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ce4ac36d0a403c" /><Relationship Type="http://schemas.openxmlformats.org/officeDocument/2006/relationships/extended-properties" Target="/docProps/app.xml" Id="R67749406dc874160" /><Relationship Type="http://schemas.openxmlformats.org/officeDocument/2006/relationships/officeDocument" Target="/ppt/presentation.xml" Id="Rcbbcc085c7194731" /></Relationships>
</file>

<file path=ppt/presentation.xml><?xml version="1.0" encoding="utf-8"?>
<p:presentation xmlns:p="http://schemas.openxmlformats.org/presentationml/2006/main">
  <p:sldMasterIdLst>
    <p:sldMasterId xmlns:r="http://schemas.openxmlformats.org/officeDocument/2006/relationships" id="2147483648" r:id="Rfc0d6252d2534ed6"/>
  </p:sldMasterIdLst>
  <p:notesMasterIdLst>
    <p:notesMasterId xmlns:r="http://schemas.openxmlformats.org/officeDocument/2006/relationships" r:id="R2d6fd73932344521"/>
  </p:notesMasterIdLst>
  <p:sldIdLst>
    <p:sldId xmlns:r="http://schemas.openxmlformats.org/officeDocument/2006/relationships" id="256" r:id="R9c437ef1e9104bc6"/>
    <p:sldId xmlns:r="http://schemas.openxmlformats.org/officeDocument/2006/relationships" id="257" r:id="Redf206947db340b8"/>
    <p:sldId xmlns:r="http://schemas.openxmlformats.org/officeDocument/2006/relationships" id="258" r:id="Rb8637f9159a84217"/>
    <p:sldId xmlns:r="http://schemas.openxmlformats.org/officeDocument/2006/relationships" id="259" r:id="R8e8586f51fba4aca"/>
    <p:sldId xmlns:r="http://schemas.openxmlformats.org/officeDocument/2006/relationships" id="260" r:id="Rc269f4ee43cb479c"/>
    <p:sldId xmlns:r="http://schemas.openxmlformats.org/officeDocument/2006/relationships" id="261" r:id="Ra0f27b3dc7894a30"/>
    <p:sldId xmlns:r="http://schemas.openxmlformats.org/officeDocument/2006/relationships" id="262" r:id="R6071fcedc66446fd"/>
    <p:sldId xmlns:r="http://schemas.openxmlformats.org/officeDocument/2006/relationships" id="263" r:id="Rd8f97525b8cf4b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80e612293b4e47" /><Relationship Type="http://schemas.openxmlformats.org/officeDocument/2006/relationships/slideMaster" Target="/ppt/slideMasters/slideMaster1.xml" Id="Rfc0d6252d2534ed6" /><Relationship Type="http://schemas.openxmlformats.org/officeDocument/2006/relationships/notesMaster" Target="/ppt/notesMasters/notesMaster1.xml" Id="R2d6fd73932344521" /><Relationship Type="http://schemas.openxmlformats.org/officeDocument/2006/relationships/presProps" Target="/ppt/presProps.xml" Id="R6ea640ad94c1403f" /><Relationship Type="http://schemas.openxmlformats.org/officeDocument/2006/relationships/tableStyles" Target="/ppt/tableStyles.xml" Id="Rf1a8ee90cb194c18" /><Relationship Type="http://schemas.openxmlformats.org/officeDocument/2006/relationships/slide" Target="/ppt/slides/slide1.xml" Id="R9c437ef1e9104bc6" /><Relationship Type="http://schemas.openxmlformats.org/officeDocument/2006/relationships/slide" Target="/ppt/slides/slide2.xml" Id="Redf206947db340b8" /><Relationship Type="http://schemas.openxmlformats.org/officeDocument/2006/relationships/slide" Target="/ppt/slides/slide3.xml" Id="Rb8637f9159a84217" /><Relationship Type="http://schemas.openxmlformats.org/officeDocument/2006/relationships/slide" Target="/ppt/slides/slide4.xml" Id="R8e8586f51fba4aca" /><Relationship Type="http://schemas.openxmlformats.org/officeDocument/2006/relationships/slide" Target="/ppt/slides/slide5.xml" Id="Rc269f4ee43cb479c" /><Relationship Type="http://schemas.openxmlformats.org/officeDocument/2006/relationships/slide" Target="/ppt/slides/slide6.xml" Id="Ra0f27b3dc7894a30" /><Relationship Type="http://schemas.openxmlformats.org/officeDocument/2006/relationships/slide" Target="/ppt/slides/slide7.xml" Id="R6071fcedc66446fd" /><Relationship Type="http://schemas.openxmlformats.org/officeDocument/2006/relationships/slide" Target="/ppt/slides/slide8.xml" Id="Rd8f97525b8cf4b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146bd75b34e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7a275597954dd2" /><Relationship Type="http://schemas.openxmlformats.org/officeDocument/2006/relationships/notesMaster" Target="/ppt/notesMasters/notesMaster1.xml" Id="Rc5016704fe964d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a0b56c1c5548db" /><Relationship Type="http://schemas.openxmlformats.org/officeDocument/2006/relationships/notesMaster" Target="/ppt/notesMasters/notesMaster1.xml" Id="Rab50338585454b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251fe2df4f444a" /><Relationship Type="http://schemas.openxmlformats.org/officeDocument/2006/relationships/notesMaster" Target="/ppt/notesMasters/notesMaster1.xml" Id="Rf2ed906de22144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14e70f12444bef" /><Relationship Type="http://schemas.openxmlformats.org/officeDocument/2006/relationships/notesMaster" Target="/ppt/notesMasters/notesMaster1.xml" Id="Rf55fbefcc21247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84cf078e374a2c" /><Relationship Type="http://schemas.openxmlformats.org/officeDocument/2006/relationships/notesMaster" Target="/ppt/notesMasters/notesMaster1.xml" Id="R5483e33f5a0e41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8a3759338d4884" /><Relationship Type="http://schemas.openxmlformats.org/officeDocument/2006/relationships/notesMaster" Target="/ppt/notesMasters/notesMaster1.xml" Id="R7d2ebb6ba6ca4c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7bad319ece4f22" /><Relationship Type="http://schemas.openxmlformats.org/officeDocument/2006/relationships/notesMaster" Target="/ppt/notesMasters/notesMaster1.xml" Id="R594877c167c74a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577480be6543f2" /><Relationship Type="http://schemas.openxmlformats.org/officeDocument/2006/relationships/notesMaster" Target="/ppt/notesMasters/notesMaster1.xml" Id="R9f0c13f8bfd84b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DCFLens is a research and education application for supported US public companies. Its purpose is to make the valuation, assumptions and primary evidence inspectable. This is product positioning, not a promise of complete data coverage or investment performance.</a:t>
            </a:r>
          </a:p>
          <a:p xmlns:a="http://schemas.openxmlformats.org/drawingml/2006/main">
            <a:r>
              <a:t/>
            </a:r>
          </a:p>
          <a:p xmlns:a="http://schemas.openxmlformats.org/drawingml/2006/main">
            <a:r>
              <a:t>[Sources]</a:t>
            </a:r>
          </a:p>
          <a:p xmlns:a="http://schemas.openxmlformats.org/drawingml/2006/main">
            <a:r>
              <a:t>https://github.com/Aarush-x/DCFLens/blob/main/docs/product-requirements.md</a:t>
            </a:r>
          </a:p>
          <a:p xmlns:a="http://schemas.openxmlformats.org/drawingml/2006/main">
            <a:r>
              <a:t>https://github.com/Aarush-x/DCFLens/blob/main/apps/web/src/app/page.tsx</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for individual investors and learners. This slide makes no empirical claim about investor behavior and uses no fabricated market statistic. DCFLens requirements prioritize a repeatable first-pass valuation with auditable inputs, formulas, and evidence.</a:t>
            </a:r>
          </a:p>
          <a:p xmlns:a="http://schemas.openxmlformats.org/drawingml/2006/main">
            <a:r>
              <a:t/>
            </a:r>
          </a:p>
          <a:p xmlns:a="http://schemas.openxmlformats.org/drawingml/2006/main">
            <a:r>
              <a:t>[Sources]</a:t>
            </a:r>
          </a:p>
          <a:p xmlns:a="http://schemas.openxmlformats.org/drawingml/2006/main">
            <a:r>
              <a:t>https://github.com/Aarush-x/DCFLens/blob/main/docs/product-requirements.md</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adaptive baseline uses versioned sector priors, normalized cash-flow and revenue history, stability and maturity/risk modifiers. SEC normalization preserves concept, unit, period, accession and selected-source provenance. Missing inputs have explicit fallbacks or stop affected calculations.</a:t>
            </a:r>
          </a:p>
          <a:p xmlns:a="http://schemas.openxmlformats.org/drawingml/2006/main">
            <a:r>
              <a:t/>
            </a:r>
          </a:p>
          <a:p xmlns:a="http://schemas.openxmlformats.org/drawingml/2006/main">
            <a:r>
              <a:t>[Sources]</a:t>
            </a:r>
          </a:p>
          <a:p xmlns:a="http://schemas.openxmlformats.org/drawingml/2006/main">
            <a:r>
              <a:t>https://github.com/Aarush-x/DCFLens/blob/main/docs/adaptive-baseline.md</a:t>
            </a:r>
          </a:p>
          <a:p xmlns:a="http://schemas.openxmlformats.org/drawingml/2006/main">
            <a:r>
              <a:t>https://github.com/Aarush-x/DCFLens/blob/main/docs/sec-ingestion.md</a:t>
            </a:r>
          </a:p>
          <a:p xmlns:a="http://schemas.openxmlformats.org/drawingml/2006/main">
            <a:r>
              <a:t>https://github.com/Aarush-x/DCFLens/blob/main/docs/evidence-provenance.md</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retrieves and normalizes SEC Company Facts, builds the deterministic adaptive baseline and checklist, then optionally requests Gemini analysis. Validated, bounded changes are passed back through the same deterministic engine. The diagram is conceptual; the final valuation is computed in Python, not generated by the model. Current API evidence consists of structured facts; 10-K narrative extraction is not yet connected.</a:t>
            </a:r>
          </a:p>
          <a:p xmlns:a="http://schemas.openxmlformats.org/drawingml/2006/main">
            <a:r>
              <a:t/>
            </a:r>
          </a:p>
          <a:p xmlns:a="http://schemas.openxmlformats.org/drawingml/2006/main">
            <a:r>
              <a:t>[Sources]</a:t>
            </a:r>
          </a:p>
          <a:p xmlns:a="http://schemas.openxmlformats.org/drawingml/2006/main">
            <a:r>
              <a:t>https://github.com/Aarush-x/DCFLens/blob/main/docs/trust-model.md</a:t>
            </a:r>
          </a:p>
          <a:p xmlns:a="http://schemas.openxmlformats.org/drawingml/2006/main">
            <a:r>
              <a:t>https://github.com/Aarush-x/DCFLens/blob/main/docs/api-service.md</a:t>
            </a:r>
          </a:p>
          <a:p xmlns:a="http://schemas.openxmlformats.org/drawingml/2006/main">
            <a:r>
              <a:t>https://github.com/Aarush-x/DCFLens/blob/main/apps/api/app/services/analysis.py</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live result renders intrinsic value, assumption sensitivity, confidence, valuation mechanics, the original checklist, evidence assessments, disagreement, and direct filing provenance. Checklist wording and order remain unchanged; applicability and interpretation are sector-aware. Sensitivity is not a probability interval and confidence is not an outcome probability.</a:t>
            </a:r>
          </a:p>
          <a:p xmlns:a="http://schemas.openxmlformats.org/drawingml/2006/main">
            <a:r>
              <a:t/>
            </a:r>
          </a:p>
          <a:p xmlns:a="http://schemas.openxmlformats.org/drawingml/2006/main">
            <a:r>
              <a:t>[Sources]</a:t>
            </a:r>
          </a:p>
          <a:p xmlns:a="http://schemas.openxmlformats.org/drawingml/2006/main">
            <a:r>
              <a:t>https://github.com/Aarush-x/DCFLens/blob/main/apps/web/src/components/analysis/live-analysis-document.tsx</a:t>
            </a:r>
          </a:p>
          <a:p xmlns:a="http://schemas.openxmlformats.org/drawingml/2006/main">
            <a:r>
              <a:t>https://github.com/Aarush-x/DCFLens/blob/main/docs/checklist-engine.md</a:t>
            </a:r>
          </a:p>
          <a:p xmlns:a="http://schemas.openxmlformats.org/drawingml/2006/main">
            <a:r>
              <a:t>https://github.com/Aarush-x/DCFLens/blob/main/docs/trust-model.md</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implemented additive Gemini adjustment bounds: stage-one growth -3 to +3 percentage points, stage-two growth -2 to +2 points, and discount rate -1.5 to +1.5 points. Python validates schema, evidence IDs, bounds, and resulting DCF validity. Gemini cannot change historical facts, shares, net debt, stage duration, terminal growth or formulas. On failure all three adjustments are zero and the deterministic baseline is preserved.</a:t>
            </a:r>
          </a:p>
          <a:p xmlns:a="http://schemas.openxmlformats.org/drawingml/2006/main">
            <a:r>
              <a:t/>
            </a:r>
          </a:p>
          <a:p xmlns:a="http://schemas.openxmlformats.org/drawingml/2006/main">
            <a:r>
              <a:t>[Sources]</a:t>
            </a:r>
          </a:p>
          <a:p xmlns:a="http://schemas.openxmlformats.org/drawingml/2006/main">
            <a:r>
              <a:t>https://github.com/Aarush-x/DCFLens/blob/main/docs/trust-model.md</a:t>
            </a:r>
          </a:p>
          <a:p xmlns:a="http://schemas.openxmlformats.org/drawingml/2006/main">
            <a:r>
              <a:t>https://github.com/Aarush-x/DCFLens/blob/main/docs/technical-architecture.md</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describes implementation present in the repository, not verified production availability. docs/trust-model.md states the current API uses structured facts, not retrieved 10-K narrative or Exhibit 21. NEXT reflects the documented narrative integration gap. LATER is explicitly proposed: durable analysis records and versioned thesis history are not represented as built, committed roadmap, or customer traction. No deployment or performance claim is made.</a:t>
            </a:r>
          </a:p>
          <a:p xmlns:a="http://schemas.openxmlformats.org/drawingml/2006/main">
            <a:r>
              <a:t/>
            </a:r>
          </a:p>
          <a:p xmlns:a="http://schemas.openxmlformats.org/drawingml/2006/main">
            <a:r>
              <a:t>[Sources]</a:t>
            </a:r>
          </a:p>
          <a:p xmlns:a="http://schemas.openxmlformats.org/drawingml/2006/main">
            <a:r>
              <a:t>https://github.com/Aarush-x/DCFLens/blob/main/README.md</a:t>
            </a:r>
          </a:p>
          <a:p xmlns:a="http://schemas.openxmlformats.org/drawingml/2006/main">
            <a:r>
              <a:t>https://github.com/Aarush-x/DCFLens/blob/main/docs/trust-model.md</a:t>
            </a:r>
          </a:p>
          <a:p xmlns:a="http://schemas.openxmlformats.org/drawingml/2006/main">
            <a:r>
              <a:t>https://github.com/Aarush-x/DCFLens/blob/main/docs/technical-architecture.md</a:t>
            </a:r>
          </a:p>
          <a:p xmlns:a="http://schemas.openxmlformats.org/drawingml/2006/main">
            <a:r>
              <a:t>https://github.com/Aarush-x/DCFLens/blob/main/docs/product-requirements.md</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invitation to inspect the project repository. DCFLens is a research and education tool, not financial advice, a trading system or an assurance of returns.</a:t>
            </a:r>
          </a:p>
          <a:p xmlns:a="http://schemas.openxmlformats.org/drawingml/2006/main">
            <a:r>
              <a:t/>
            </a:r>
          </a:p>
          <a:p xmlns:a="http://schemas.openxmlformats.org/drawingml/2006/main">
            <a:r>
              <a:t>[Sources]</a:t>
            </a:r>
          </a:p>
          <a:p xmlns:a="http://schemas.openxmlformats.org/drawingml/2006/main">
            <a:r>
              <a:t>https://github.com/Aarush-x/DCFLens/blob/main/docs/product-requirements.md</a:t>
            </a:r>
          </a:p>
          <a:p xmlns:a="http://schemas.openxmlformats.org/drawingml/2006/main">
            <a:r>
              <a:t>Visual reference: user-provided DeltaDCFPitch.pdf, pages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84fbd6616d42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7451a026c94967" /><Relationship Type="http://schemas.openxmlformats.org/officeDocument/2006/relationships/slideLayout" Target="/ppt/slideLayouts/slideLayout1.xml" Id="R4cc2a9e5ae3843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c2a9e5ae3843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6e497e1ab84a43" /><Relationship Type="http://schemas.openxmlformats.org/officeDocument/2006/relationships/notesSlide" Target="/ppt/notesSlides/notesSlide1.xml" Id="Reb97bf882fca44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629468eecd47a2" /><Relationship Type="http://schemas.openxmlformats.org/officeDocument/2006/relationships/notesSlide" Target="/ppt/notesSlides/notesSlide2.xml" Id="R79baa359c0a24f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0926431a8547aa" /><Relationship Type="http://schemas.openxmlformats.org/officeDocument/2006/relationships/notesSlide" Target="/ppt/notesSlides/notesSlide3.xml" Id="R5772272c18ff4b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3c3f97739b41a0" /><Relationship Type="http://schemas.openxmlformats.org/officeDocument/2006/relationships/notesSlide" Target="/ppt/notesSlides/notesSlide4.xml" Id="R887f12ea481345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8c3606a7e1463f" /><Relationship Type="http://schemas.openxmlformats.org/officeDocument/2006/relationships/notesSlide" Target="/ppt/notesSlides/notesSlide5.xml" Id="R91749d14504f46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c793beefb243ce" /><Relationship Type="http://schemas.openxmlformats.org/officeDocument/2006/relationships/notesSlide" Target="/ppt/notesSlides/notesSlide6.xml" Id="Rc9a872d0715e44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0bee1255c3499b" /><Relationship Type="http://schemas.openxmlformats.org/officeDocument/2006/relationships/notesSlide" Target="/ppt/notesSlides/notesSlide7.xml" Id="R84ae432c62cc4a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468cfde4b6461f" /><Relationship Type="http://schemas.openxmlformats.org/officeDocument/2006/relationships/hyperlink" Target="https://github.com/Aarush-x/DCFLens" TargetMode="External" Id="R7851392dc2444b4e" /><Relationship Type="http://schemas.openxmlformats.org/officeDocument/2006/relationships/notesSlide" Target="/ppt/notesSlides/notesSlide8.xml" Id="R3eb5e5822ccb4f69" /></Relationships>
</file>

<file path=ppt/slides/slide1.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11" name="s1-rule-0">
            <a:extLst xmlns:a="http://schemas.openxmlformats.org/drawingml/2006/main">
              <a:ext uri="{FF2B5EF4-FFF2-40B4-BE49-F238E27FC236}">
                <a16:creationId xmlns:a16="http://schemas.microsoft.com/office/drawing/2014/main" id="{A3CF0D67-CCDE-489B-8A1D-68FF941EBFA8}"/>
              </a:ext>
            </a:extLst>
          </p:cNvPr>
          <p:cNvSpPr>
            <a:spLocks xmlns:a="http://schemas.openxmlformats.org/drawingml/2006/main" noGrp="1"/>
          </p:cNvSpPr>
          <p:nvPr/>
        </p:nvSpPr>
        <p:spPr>
          <a:xfrm xmlns:a="http://schemas.openxmlformats.org/drawingml/2006/main">
            <a:off x="609600" y="542925"/>
            <a:ext cx="914400" cy="57150"/>
          </a:xfrm>
          <a:prstGeom xmlns:a="http://schemas.openxmlformats.org/drawingml/2006/main" prst="rect">
            <a:avLst/>
          </a:prstGeom>
          <a:solidFill xmlns:a="http://schemas.openxmlformats.org/drawingml/2006/main">
            <a:srgbClr val="C8FF3D"/>
          </a:solidFill>
          <a:ln xmlns:a="http://schemas.openxmlformats.org/drawingml/2006/main" w="0">
            <a:noFill/>
          </a:ln>
        </p:spPr>
      </p:sp>
      <p:sp>
        <p:nvSpPr>
          <p:cNvPr id="2" name="s1-text-1">
            <a:extLst xmlns:a="http://schemas.openxmlformats.org/drawingml/2006/main">
              <a:ext uri="{FF2B5EF4-FFF2-40B4-BE49-F238E27FC236}">
                <a16:creationId xmlns:a16="http://schemas.microsoft.com/office/drawing/2014/main" id="{A2BE63D4-05EE-47AC-BE00-20B9FB194275}"/>
              </a:ext>
            </a:extLst>
          </p:cNvPr>
          <p:cNvSpPr>
            <a:spLocks xmlns:a="http://schemas.openxmlformats.org/drawingml/2006/main" noGrp="1"/>
          </p:cNvSpPr>
          <p:nvPr/>
        </p:nvSpPr>
        <p:spPr>
          <a:xfrm xmlns:a="http://schemas.openxmlformats.org/drawingml/2006/main">
            <a:off x="609600" y="8953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EVIDENCE-FIRST EQUITY RESEARCH</a:t>
            </a:r>
          </a:p>
        </p:txBody>
      </p:sp>
      <p:sp>
        <p:nvSpPr>
          <p:cNvPr id="3" name="s1-text-2">
            <a:extLst xmlns:a="http://schemas.openxmlformats.org/drawingml/2006/main">
              <a:ext uri="{FF2B5EF4-FFF2-40B4-BE49-F238E27FC236}">
                <a16:creationId xmlns:a16="http://schemas.microsoft.com/office/drawing/2014/main" id="{48C2EF71-83AF-473E-846B-0CA3708012ED}"/>
              </a:ext>
            </a:extLst>
          </p:cNvPr>
          <p:cNvSpPr>
            <a:spLocks xmlns:a="http://schemas.openxmlformats.org/drawingml/2006/main" noGrp="1"/>
          </p:cNvSpPr>
          <p:nvPr/>
        </p:nvSpPr>
        <p:spPr>
          <a:xfrm xmlns:a="http://schemas.openxmlformats.org/drawingml/2006/main">
            <a:off x="609600" y="2076450"/>
            <a:ext cx="2343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100" b="1">
                <a:solidFill>
                  <a:srgbClr val="F2EFE8"/>
                </a:solidFill>
                <a:latin typeface="Helvetica"/>
                <a:ea typeface="Helvetica"/>
                <a:cs typeface="Helvetica"/>
              </a:defRPr>
            </a:pPr>
            <a:r>
              <a:rPr sz="8100" b="1">
                <a:solidFill>
                  <a:srgbClr val="F2EFE8"/>
                </a:solidFill>
                <a:latin typeface="Helvetica"/>
                <a:ea typeface="Helvetica"/>
                <a:cs typeface="Helvetica"/>
              </a:rPr>
              <a:t>DCF</a:t>
            </a:r>
          </a:p>
        </p:txBody>
      </p:sp>
      <p:sp>
        <p:nvSpPr>
          <p:cNvPr id="4" name="s1-text-3">
            <a:extLst xmlns:a="http://schemas.openxmlformats.org/drawingml/2006/main">
              <a:ext uri="{FF2B5EF4-FFF2-40B4-BE49-F238E27FC236}">
                <a16:creationId xmlns:a16="http://schemas.microsoft.com/office/drawing/2014/main" id="{575C49FE-51D8-40F7-9446-0B3D0DAA2C98}"/>
              </a:ext>
            </a:extLst>
          </p:cNvPr>
          <p:cNvSpPr>
            <a:spLocks xmlns:a="http://schemas.openxmlformats.org/drawingml/2006/main" noGrp="1"/>
          </p:cNvSpPr>
          <p:nvPr/>
        </p:nvSpPr>
        <p:spPr>
          <a:xfrm xmlns:a="http://schemas.openxmlformats.org/drawingml/2006/main">
            <a:off x="2895600" y="2076450"/>
            <a:ext cx="4572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100" b="1">
                <a:solidFill>
                  <a:srgbClr val="C8FF3D"/>
                </a:solidFill>
                <a:latin typeface="Helvetica"/>
                <a:ea typeface="Helvetica"/>
                <a:cs typeface="Helvetica"/>
              </a:defRPr>
            </a:pPr>
            <a:r>
              <a:rPr sz="8100" b="1">
                <a:solidFill>
                  <a:srgbClr val="C8FF3D"/>
                </a:solidFill>
                <a:latin typeface="Helvetica"/>
                <a:ea typeface="Helvetica"/>
                <a:cs typeface="Helvetica"/>
              </a:rPr>
              <a:t>LENS</a:t>
            </a:r>
          </a:p>
        </p:txBody>
      </p:sp>
      <p:sp>
        <p:nvSpPr>
          <p:cNvPr id="5" name="s1-text-4">
            <a:extLst xmlns:a="http://schemas.openxmlformats.org/drawingml/2006/main">
              <a:ext uri="{FF2B5EF4-FFF2-40B4-BE49-F238E27FC236}">
                <a16:creationId xmlns:a16="http://schemas.microsoft.com/office/drawing/2014/main" id="{6D19153C-9FCA-466A-98C1-EB6DAF6B5C93}"/>
              </a:ext>
            </a:extLst>
          </p:cNvPr>
          <p:cNvSpPr>
            <a:spLocks xmlns:a="http://schemas.openxmlformats.org/drawingml/2006/main" noGrp="1"/>
          </p:cNvSpPr>
          <p:nvPr/>
        </p:nvSpPr>
        <p:spPr>
          <a:xfrm xmlns:a="http://schemas.openxmlformats.org/drawingml/2006/main">
            <a:off x="6381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0">
                <a:solidFill>
                  <a:srgbClr val="F2EFE8"/>
                </a:solidFill>
                <a:latin typeface="Helvetica"/>
                <a:ea typeface="Helvetica"/>
                <a:cs typeface="Helvetica"/>
              </a:defRPr>
            </a:pPr>
            <a:r>
              <a:rPr sz="2550" b="0">
                <a:solidFill>
                  <a:srgbClr val="F2EFE8"/>
                </a:solidFill>
                <a:latin typeface="Helvetica"/>
                <a:ea typeface="Helvetica"/>
                <a:cs typeface="Helvetica"/>
              </a:rPr>
              <a:t>One ticker. One valuation.</a:t>
            </a:r>
          </a:p>
        </p:txBody>
      </p:sp>
      <p:sp>
        <p:nvSpPr>
          <p:cNvPr id="6" name="s1-text-5">
            <a:extLst xmlns:a="http://schemas.openxmlformats.org/drawingml/2006/main">
              <a:ext uri="{FF2B5EF4-FFF2-40B4-BE49-F238E27FC236}">
                <a16:creationId xmlns:a16="http://schemas.microsoft.com/office/drawing/2014/main" id="{C8980275-FEA0-45E4-BB25-EC000BAC6448}"/>
              </a:ext>
            </a:extLst>
          </p:cNvPr>
          <p:cNvSpPr>
            <a:spLocks xmlns:a="http://schemas.openxmlformats.org/drawingml/2006/main" noGrp="1"/>
          </p:cNvSpPr>
          <p:nvPr/>
        </p:nvSpPr>
        <p:spPr>
          <a:xfrm xmlns:a="http://schemas.openxmlformats.org/drawingml/2006/main">
            <a:off x="638175" y="421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Every assumption explained.</a:t>
            </a:r>
          </a:p>
        </p:txBody>
      </p:sp>
      <p:sp>
        <p:nvSpPr>
          <p:cNvPr id="7" name="s1-text-6">
            <a:extLst xmlns:a="http://schemas.openxmlformats.org/drawingml/2006/main">
              <a:ext uri="{FF2B5EF4-FFF2-40B4-BE49-F238E27FC236}">
                <a16:creationId xmlns:a16="http://schemas.microsoft.com/office/drawing/2014/main" id="{EF6DD3A0-EA6F-4439-9A82-5CD23F0D054D}"/>
              </a:ext>
            </a:extLst>
          </p:cNvPr>
          <p:cNvSpPr>
            <a:spLocks xmlns:a="http://schemas.openxmlformats.org/drawingml/2006/main" noGrp="1"/>
          </p:cNvSpPr>
          <p:nvPr/>
        </p:nvSpPr>
        <p:spPr>
          <a:xfrm xmlns:a="http://schemas.openxmlformats.org/drawingml/2006/main">
            <a:off x="638175" y="45434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Every conclusion traced to evidence.</a:t>
            </a:r>
          </a:p>
        </p:txBody>
      </p:sp>
      <p:sp>
        <p:nvSpPr>
          <p:cNvPr id="8" name="s1-rule-7">
            <a:extLst xmlns:a="http://schemas.openxmlformats.org/drawingml/2006/main">
              <a:ext uri="{FF2B5EF4-FFF2-40B4-BE49-F238E27FC236}">
                <a16:creationId xmlns:a16="http://schemas.microsoft.com/office/drawing/2014/main" id="{F6D66C77-CE51-4029-9A77-10EEF9731B78}"/>
              </a:ext>
            </a:extLst>
          </p:cNvPr>
          <p:cNvSpPr>
            <a:spLocks xmlns:a="http://schemas.openxmlformats.org/drawingml/2006/main" noGrp="1"/>
          </p:cNvSpPr>
          <p:nvPr/>
        </p:nvSpPr>
        <p:spPr>
          <a:xfrm xmlns:a="http://schemas.openxmlformats.org/drawingml/2006/main">
            <a:off x="609600" y="5838825"/>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9" name="s1-text-8">
            <a:extLst xmlns:a="http://schemas.openxmlformats.org/drawingml/2006/main">
              <a:ext uri="{FF2B5EF4-FFF2-40B4-BE49-F238E27FC236}">
                <a16:creationId xmlns:a16="http://schemas.microsoft.com/office/drawing/2014/main" id="{8D03F43B-CA3E-4097-84C5-FCF6B4BF880B}"/>
              </a:ext>
            </a:extLst>
          </p:cNvPr>
          <p:cNvSpPr>
            <a:spLocks xmlns:a="http://schemas.openxmlformats.org/drawingml/2006/main" noGrp="1"/>
          </p:cNvSpPr>
          <p:nvPr/>
        </p:nvSpPr>
        <p:spPr>
          <a:xfrm xmlns:a="http://schemas.openxmlformats.org/drawingml/2006/main">
            <a:off x="609600" y="6096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8C908B"/>
                </a:solidFill>
                <a:latin typeface="Helvetica"/>
                <a:ea typeface="Helvetica"/>
                <a:cs typeface="Helvetica"/>
              </a:defRPr>
            </a:pPr>
            <a:r>
              <a:rPr sz="1125" b="0">
                <a:solidFill>
                  <a:srgbClr val="8C908B"/>
                </a:solidFill>
                <a:latin typeface="Helvetica"/>
                <a:ea typeface="Helvetica"/>
                <a:cs typeface="Helvetica"/>
              </a:rPr>
              <a:t>For investors, analysts, and curious learners</a:t>
            </a:r>
          </a:p>
        </p:txBody>
      </p:sp>
      <p:sp>
        <p:nvSpPr>
          <p:cNvPr id="10" name="s1-text-9">
            <a:extLst xmlns:a="http://schemas.openxmlformats.org/drawingml/2006/main">
              <a:ext uri="{FF2B5EF4-FFF2-40B4-BE49-F238E27FC236}">
                <a16:creationId xmlns:a16="http://schemas.microsoft.com/office/drawing/2014/main" id="{0F3C4BF5-79A8-4DBF-A8A5-016411460A2A}"/>
              </a:ext>
            </a:extLst>
          </p:cNvPr>
          <p:cNvSpPr>
            <a:spLocks xmlns:a="http://schemas.openxmlformats.org/drawingml/2006/main" noGrp="1"/>
          </p:cNvSpPr>
          <p:nvPr/>
        </p:nvSpPr>
        <p:spPr>
          <a:xfrm xmlns:a="http://schemas.openxmlformats.org/drawingml/2006/main">
            <a:off x="10763250" y="60960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8C908B"/>
                </a:solidFill>
                <a:latin typeface="Helvetica"/>
                <a:ea typeface="Helvetica"/>
                <a:cs typeface="Helvetica"/>
              </a:defRPr>
            </a:pPr>
            <a:r>
              <a:rPr sz="1125" b="0">
                <a:solidFill>
                  <a:srgbClr val="8C908B"/>
                </a:solidFill>
                <a:latin typeface="Helvetica"/>
                <a:ea typeface="Helvetica"/>
                <a:cs typeface="Helvetica"/>
              </a:rPr>
              <a:t>2026</a:t>
            </a:r>
          </a:p>
        </p:txBody>
      </p:sp>
    </p:spTree>
    <p:extLst>
      <p:ext uri="{BB962C8B-B14F-4D97-AF65-F5344CB8AC3E}">
        <p14:creationId xmlns:p14="http://schemas.microsoft.com/office/powerpoint/2010/main" val="1258778978"/>
      </p:ext>
    </p:extLst>
  </p:cSld>
</p:sld>
</file>

<file path=ppt/slides/slide2.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19" name="s2-text-0">
            <a:extLst xmlns:a="http://schemas.openxmlformats.org/drawingml/2006/main">
              <a:ext uri="{FF2B5EF4-FFF2-40B4-BE49-F238E27FC236}">
                <a16:creationId xmlns:a16="http://schemas.microsoft.com/office/drawing/2014/main" id="{CF427906-757F-482A-9230-DD1DC3DBFC26}"/>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PROBLEM</a:t>
            </a:r>
          </a:p>
        </p:txBody>
      </p:sp>
      <p:sp>
        <p:nvSpPr>
          <p:cNvPr id="2" name="s2-text-1">
            <a:extLst xmlns:a="http://schemas.openxmlformats.org/drawingml/2006/main">
              <a:ext uri="{FF2B5EF4-FFF2-40B4-BE49-F238E27FC236}">
                <a16:creationId xmlns:a16="http://schemas.microsoft.com/office/drawing/2014/main" id="{A251B7E5-18C9-44F2-BBA4-58EE8271B1B8}"/>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8C908B"/>
                </a:solidFill>
                <a:latin typeface="Helvetica"/>
                <a:ea typeface="Helvetica"/>
                <a:cs typeface="Helvetica"/>
              </a:defRPr>
            </a:pPr>
            <a:r>
              <a:rPr sz="1050" b="0">
                <a:solidFill>
                  <a:srgbClr val="8C908B"/>
                </a:solidFill>
                <a:latin typeface="Helvetica"/>
                <a:ea typeface="Helvetica"/>
                <a:cs typeface="Helvetica"/>
              </a:rPr>
              <a:t>02</a:t>
            </a:r>
          </a:p>
        </p:txBody>
      </p:sp>
      <p:sp>
        <p:nvSpPr>
          <p:cNvPr id="3" name="s2-rule-2">
            <a:extLst xmlns:a="http://schemas.openxmlformats.org/drawingml/2006/main">
              <a:ext uri="{FF2B5EF4-FFF2-40B4-BE49-F238E27FC236}">
                <a16:creationId xmlns:a16="http://schemas.microsoft.com/office/drawing/2014/main" id="{B9C5A069-FB32-433F-9E40-02CC27FA542D}"/>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4" name="s2-text-3">
            <a:extLst xmlns:a="http://schemas.openxmlformats.org/drawingml/2006/main">
              <a:ext uri="{FF2B5EF4-FFF2-40B4-BE49-F238E27FC236}">
                <a16:creationId xmlns:a16="http://schemas.microsoft.com/office/drawing/2014/main" id="{ADAA595D-BC4D-48F7-BF28-64CB15451744}"/>
              </a:ext>
            </a:extLst>
          </p:cNvPr>
          <p:cNvSpPr>
            <a:spLocks xmlns:a="http://schemas.openxmlformats.org/drawingml/2006/main" noGrp="1"/>
          </p:cNvSpPr>
          <p:nvPr/>
        </p:nvSpPr>
        <p:spPr>
          <a:xfrm xmlns:a="http://schemas.openxmlformats.org/drawingml/2006/main">
            <a:off x="609600" y="1123950"/>
            <a:ext cx="295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700" b="1">
                <a:solidFill>
                  <a:srgbClr val="C8FF3D"/>
                </a:solidFill>
                <a:latin typeface="Helvetica"/>
                <a:ea typeface="Helvetica"/>
                <a:cs typeface="Helvetica"/>
              </a:defRPr>
            </a:pPr>
            <a:r>
              <a:rPr sz="11700" b="1">
                <a:solidFill>
                  <a:srgbClr val="C8FF3D"/>
                </a:solidFill>
                <a:latin typeface="Helvetica"/>
                <a:ea typeface="Helvetica"/>
                <a:cs typeface="Helvetica"/>
              </a:rPr>
              <a:t>?</a:t>
            </a:r>
          </a:p>
        </p:txBody>
      </p:sp>
      <p:sp>
        <p:nvSpPr>
          <p:cNvPr id="5" name="s2-text-4">
            <a:extLst xmlns:a="http://schemas.openxmlformats.org/drawingml/2006/main">
              <a:ext uri="{FF2B5EF4-FFF2-40B4-BE49-F238E27FC236}">
                <a16:creationId xmlns:a16="http://schemas.microsoft.com/office/drawing/2014/main" id="{A29B20D5-B07B-4967-AC49-888515EA71F2}"/>
              </a:ext>
            </a:extLst>
          </p:cNvPr>
          <p:cNvSpPr>
            <a:spLocks xmlns:a="http://schemas.openxmlformats.org/drawingml/2006/main" noGrp="1"/>
          </p:cNvSpPr>
          <p:nvPr/>
        </p:nvSpPr>
        <p:spPr>
          <a:xfrm xmlns:a="http://schemas.openxmlformats.org/drawingml/2006/main">
            <a:off x="4000500" y="1200150"/>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1">
                <a:solidFill>
                  <a:srgbClr val="F2EFE8"/>
                </a:solidFill>
                <a:latin typeface="Helvetica"/>
                <a:ea typeface="Helvetica"/>
                <a:cs typeface="Helvetica"/>
              </a:defRPr>
            </a:pPr>
            <a:r>
              <a:rPr sz="3900" b="1">
                <a:solidFill>
                  <a:srgbClr val="F2EFE8"/>
                </a:solidFill>
                <a:latin typeface="Helvetica"/>
                <a:ea typeface="Helvetica"/>
                <a:cs typeface="Helvetica"/>
              </a:rPr>
              <a:t>A price is visible.</a:t>
            </a:r>
          </a:p>
        </p:txBody>
      </p:sp>
      <p:sp>
        <p:nvSpPr>
          <p:cNvPr id="6" name="s2-text-5">
            <a:extLst xmlns:a="http://schemas.openxmlformats.org/drawingml/2006/main">
              <a:ext uri="{FF2B5EF4-FFF2-40B4-BE49-F238E27FC236}">
                <a16:creationId xmlns:a16="http://schemas.microsoft.com/office/drawing/2014/main" id="{5A096FF5-F6B1-4F65-9B3D-10977A236B75}"/>
              </a:ext>
            </a:extLst>
          </p:cNvPr>
          <p:cNvSpPr>
            <a:spLocks xmlns:a="http://schemas.openxmlformats.org/drawingml/2006/main" noGrp="1"/>
          </p:cNvSpPr>
          <p:nvPr/>
        </p:nvSpPr>
        <p:spPr>
          <a:xfrm xmlns:a="http://schemas.openxmlformats.org/drawingml/2006/main">
            <a:off x="4000500" y="1809750"/>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1">
                <a:solidFill>
                  <a:srgbClr val="F2EFE8"/>
                </a:solidFill>
                <a:latin typeface="Helvetica"/>
                <a:ea typeface="Helvetica"/>
                <a:cs typeface="Helvetica"/>
              </a:defRPr>
            </a:pPr>
            <a:r>
              <a:rPr sz="3900" b="1">
                <a:solidFill>
                  <a:srgbClr val="F2EFE8"/>
                </a:solidFill>
                <a:latin typeface="Helvetica"/>
                <a:ea typeface="Helvetica"/>
                <a:cs typeface="Helvetica"/>
              </a:rPr>
              <a:t>Its assumptions</a:t>
            </a:r>
          </a:p>
        </p:txBody>
      </p:sp>
      <p:sp>
        <p:nvSpPr>
          <p:cNvPr id="7" name="s2-text-6">
            <a:extLst xmlns:a="http://schemas.openxmlformats.org/drawingml/2006/main">
              <a:ext uri="{FF2B5EF4-FFF2-40B4-BE49-F238E27FC236}">
                <a16:creationId xmlns:a16="http://schemas.microsoft.com/office/drawing/2014/main" id="{3F13E17A-932E-48E6-9D08-2D9F5CDC1B7F}"/>
              </a:ext>
            </a:extLst>
          </p:cNvPr>
          <p:cNvSpPr>
            <a:spLocks xmlns:a="http://schemas.openxmlformats.org/drawingml/2006/main" noGrp="1"/>
          </p:cNvSpPr>
          <p:nvPr/>
        </p:nvSpPr>
        <p:spPr>
          <a:xfrm xmlns:a="http://schemas.openxmlformats.org/drawingml/2006/main">
            <a:off x="4000500" y="2419350"/>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1">
                <a:solidFill>
                  <a:srgbClr val="F2EFE8"/>
                </a:solidFill>
                <a:latin typeface="Helvetica"/>
                <a:ea typeface="Helvetica"/>
                <a:cs typeface="Helvetica"/>
              </a:defRPr>
            </a:pPr>
            <a:r>
              <a:rPr sz="3900" b="1">
                <a:solidFill>
                  <a:srgbClr val="F2EFE8"/>
                </a:solidFill>
                <a:latin typeface="Helvetica"/>
                <a:ea typeface="Helvetica"/>
                <a:cs typeface="Helvetica"/>
              </a:rPr>
              <a:t>are not.</a:t>
            </a:r>
          </a:p>
        </p:txBody>
      </p:sp>
      <p:sp>
        <p:nvSpPr>
          <p:cNvPr id="8" name="s2-rule-7">
            <a:extLst xmlns:a="http://schemas.openxmlformats.org/drawingml/2006/main">
              <a:ext uri="{FF2B5EF4-FFF2-40B4-BE49-F238E27FC236}">
                <a16:creationId xmlns:a16="http://schemas.microsoft.com/office/drawing/2014/main" id="{26DABC82-4977-4B64-85CE-5538D599A3F0}"/>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9" name="s2-text-8">
            <a:extLst xmlns:a="http://schemas.openxmlformats.org/drawingml/2006/main">
              <a:ext uri="{FF2B5EF4-FFF2-40B4-BE49-F238E27FC236}">
                <a16:creationId xmlns:a16="http://schemas.microsoft.com/office/drawing/2014/main" id="{221CC1C4-1BF6-4EC3-B173-9ADC229275B2}"/>
              </a:ext>
            </a:extLst>
          </p:cNvPr>
          <p:cNvSpPr>
            <a:spLocks xmlns:a="http://schemas.openxmlformats.org/drawingml/2006/main" noGrp="1"/>
          </p:cNvSpPr>
          <p:nvPr/>
        </p:nvSpPr>
        <p:spPr>
          <a:xfrm xmlns:a="http://schemas.openxmlformats.org/drawingml/2006/main">
            <a:off x="609600" y="37242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01</a:t>
            </a:r>
          </a:p>
        </p:txBody>
      </p:sp>
      <p:sp>
        <p:nvSpPr>
          <p:cNvPr id="10" name="s2-text-9">
            <a:extLst xmlns:a="http://schemas.openxmlformats.org/drawingml/2006/main">
              <a:ext uri="{FF2B5EF4-FFF2-40B4-BE49-F238E27FC236}">
                <a16:creationId xmlns:a16="http://schemas.microsoft.com/office/drawing/2014/main" id="{BE50806F-655C-446F-A1F7-C98FA4B7860E}"/>
              </a:ext>
            </a:extLst>
          </p:cNvPr>
          <p:cNvSpPr>
            <a:spLocks xmlns:a="http://schemas.openxmlformats.org/drawingml/2006/main" noGrp="1"/>
          </p:cNvSpPr>
          <p:nvPr/>
        </p:nvSpPr>
        <p:spPr>
          <a:xfrm xmlns:a="http://schemas.openxmlformats.org/drawingml/2006/main">
            <a:off x="609600" y="42005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2EFE8"/>
                </a:solidFill>
                <a:latin typeface="Helvetica"/>
                <a:ea typeface="Helvetica"/>
                <a:cs typeface="Helvetica"/>
              </a:defRPr>
            </a:pPr>
            <a:r>
              <a:rPr sz="2100" b="1">
                <a:solidFill>
                  <a:srgbClr val="F2EFE8"/>
                </a:solidFill>
                <a:latin typeface="Helvetica"/>
                <a:ea typeface="Helvetica"/>
                <a:cs typeface="Helvetica"/>
              </a:rPr>
              <a:t>A stock idea</a:t>
            </a:r>
          </a:p>
        </p:txBody>
      </p:sp>
      <p:sp>
        <p:nvSpPr>
          <p:cNvPr id="11" name="s2-text-10">
            <a:extLst xmlns:a="http://schemas.openxmlformats.org/drawingml/2006/main">
              <a:ext uri="{FF2B5EF4-FFF2-40B4-BE49-F238E27FC236}">
                <a16:creationId xmlns:a16="http://schemas.microsoft.com/office/drawing/2014/main" id="{3FD13766-FD7A-4539-ABDB-228B92ABBFE9}"/>
              </a:ext>
            </a:extLst>
          </p:cNvPr>
          <p:cNvSpPr>
            <a:spLocks xmlns:a="http://schemas.openxmlformats.org/drawingml/2006/main" noGrp="1"/>
          </p:cNvSpPr>
          <p:nvPr/>
        </p:nvSpPr>
        <p:spPr>
          <a:xfrm xmlns:a="http://schemas.openxmlformats.org/drawingml/2006/main">
            <a:off x="609600" y="47434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8C908B"/>
                </a:solidFill>
                <a:latin typeface="Helvetica"/>
                <a:ea typeface="Helvetica"/>
                <a:cs typeface="Helvetica"/>
              </a:defRPr>
            </a:pPr>
            <a:r>
              <a:rPr sz="975" b="0">
                <a:solidFill>
                  <a:srgbClr val="8C908B"/>
                </a:solidFill>
                <a:latin typeface="Helvetica"/>
                <a:ea typeface="Helvetica"/>
                <a:cs typeface="Helvetica"/>
              </a:rPr>
              <a:t>WHAT CAUGHT YOUR EYE</a:t>
            </a:r>
          </a:p>
        </p:txBody>
      </p:sp>
      <p:sp>
        <p:nvSpPr>
          <p:cNvPr id="12" name="s2-text-11">
            <a:extLst xmlns:a="http://schemas.openxmlformats.org/drawingml/2006/main">
              <a:ext uri="{FF2B5EF4-FFF2-40B4-BE49-F238E27FC236}">
                <a16:creationId xmlns:a16="http://schemas.microsoft.com/office/drawing/2014/main" id="{E52C4609-76AB-44D6-BE6E-9BA0E3AD7199}"/>
              </a:ext>
            </a:extLst>
          </p:cNvPr>
          <p:cNvSpPr>
            <a:spLocks xmlns:a="http://schemas.openxmlformats.org/drawingml/2006/main" noGrp="1"/>
          </p:cNvSpPr>
          <p:nvPr/>
        </p:nvSpPr>
        <p:spPr>
          <a:xfrm xmlns:a="http://schemas.openxmlformats.org/drawingml/2006/main">
            <a:off x="4267200" y="37242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02</a:t>
            </a:r>
          </a:p>
        </p:txBody>
      </p:sp>
      <p:sp>
        <p:nvSpPr>
          <p:cNvPr id="13" name="s2-text-12">
            <a:extLst xmlns:a="http://schemas.openxmlformats.org/drawingml/2006/main">
              <a:ext uri="{FF2B5EF4-FFF2-40B4-BE49-F238E27FC236}">
                <a16:creationId xmlns:a16="http://schemas.microsoft.com/office/drawing/2014/main" id="{D6278662-B54D-4FAF-BA9C-455FA02DB2AB}"/>
              </a:ext>
            </a:extLst>
          </p:cNvPr>
          <p:cNvSpPr>
            <a:spLocks xmlns:a="http://schemas.openxmlformats.org/drawingml/2006/main" noGrp="1"/>
          </p:cNvSpPr>
          <p:nvPr/>
        </p:nvSpPr>
        <p:spPr>
          <a:xfrm xmlns:a="http://schemas.openxmlformats.org/drawingml/2006/main">
            <a:off x="4267200" y="42005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2EFE8"/>
                </a:solidFill>
                <a:latin typeface="Helvetica"/>
                <a:ea typeface="Helvetica"/>
                <a:cs typeface="Helvetica"/>
              </a:defRPr>
            </a:pPr>
            <a:r>
              <a:rPr sz="2100" b="1">
                <a:solidFill>
                  <a:srgbClr val="F2EFE8"/>
                </a:solidFill>
                <a:latin typeface="Helvetica"/>
                <a:ea typeface="Helvetica"/>
                <a:cs typeface="Helvetica"/>
              </a:rPr>
              <a:t>A price target</a:t>
            </a:r>
          </a:p>
        </p:txBody>
      </p:sp>
      <p:sp>
        <p:nvSpPr>
          <p:cNvPr id="14" name="s2-text-13">
            <a:extLst xmlns:a="http://schemas.openxmlformats.org/drawingml/2006/main">
              <a:ext uri="{FF2B5EF4-FFF2-40B4-BE49-F238E27FC236}">
                <a16:creationId xmlns:a16="http://schemas.microsoft.com/office/drawing/2014/main" id="{B91356C3-2403-4A41-9D19-0123687B3F81}"/>
              </a:ext>
            </a:extLst>
          </p:cNvPr>
          <p:cNvSpPr>
            <a:spLocks xmlns:a="http://schemas.openxmlformats.org/drawingml/2006/main" noGrp="1"/>
          </p:cNvSpPr>
          <p:nvPr/>
        </p:nvSpPr>
        <p:spPr>
          <a:xfrm xmlns:a="http://schemas.openxmlformats.org/drawingml/2006/main">
            <a:off x="4267200" y="47434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8C908B"/>
                </a:solidFill>
                <a:latin typeface="Helvetica"/>
                <a:ea typeface="Helvetica"/>
                <a:cs typeface="Helvetica"/>
              </a:defRPr>
            </a:pPr>
            <a:r>
              <a:rPr sz="975" b="0">
                <a:solidFill>
                  <a:srgbClr val="8C908B"/>
                </a:solidFill>
                <a:latin typeface="Helvetica"/>
                <a:ea typeface="Helvetica"/>
                <a:cs typeface="Helvetica"/>
              </a:rPr>
              <a:t>WHAT THE MODEL SAYS</a:t>
            </a:r>
          </a:p>
        </p:txBody>
      </p:sp>
      <p:sp>
        <p:nvSpPr>
          <p:cNvPr id="15" name="s2-text-14">
            <a:extLst xmlns:a="http://schemas.openxmlformats.org/drawingml/2006/main">
              <a:ext uri="{FF2B5EF4-FFF2-40B4-BE49-F238E27FC236}">
                <a16:creationId xmlns:a16="http://schemas.microsoft.com/office/drawing/2014/main" id="{53996F63-2562-42C7-8E7E-6ADEE968F915}"/>
              </a:ext>
            </a:extLst>
          </p:cNvPr>
          <p:cNvSpPr>
            <a:spLocks xmlns:a="http://schemas.openxmlformats.org/drawingml/2006/main" noGrp="1"/>
          </p:cNvSpPr>
          <p:nvPr/>
        </p:nvSpPr>
        <p:spPr>
          <a:xfrm xmlns:a="http://schemas.openxmlformats.org/drawingml/2006/main">
            <a:off x="7924800" y="37242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03</a:t>
            </a:r>
          </a:p>
        </p:txBody>
      </p:sp>
      <p:sp>
        <p:nvSpPr>
          <p:cNvPr id="16" name="s2-text-15">
            <a:extLst xmlns:a="http://schemas.openxmlformats.org/drawingml/2006/main">
              <a:ext uri="{FF2B5EF4-FFF2-40B4-BE49-F238E27FC236}">
                <a16:creationId xmlns:a16="http://schemas.microsoft.com/office/drawing/2014/main" id="{5ADFCC28-9CCD-48E9-BB72-BFEE1AAE5269}"/>
              </a:ext>
            </a:extLst>
          </p:cNvPr>
          <p:cNvSpPr>
            <a:spLocks xmlns:a="http://schemas.openxmlformats.org/drawingml/2006/main" noGrp="1"/>
          </p:cNvSpPr>
          <p:nvPr/>
        </p:nvSpPr>
        <p:spPr>
          <a:xfrm xmlns:a="http://schemas.openxmlformats.org/drawingml/2006/main">
            <a:off x="7924800" y="42005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2EFE8"/>
                </a:solidFill>
                <a:latin typeface="Helvetica"/>
                <a:ea typeface="Helvetica"/>
                <a:cs typeface="Helvetica"/>
              </a:defRPr>
            </a:pPr>
            <a:r>
              <a:rPr sz="2100" b="1">
                <a:solidFill>
                  <a:srgbClr val="F2EFE8"/>
                </a:solidFill>
                <a:latin typeface="Helvetica"/>
                <a:ea typeface="Helvetica"/>
                <a:cs typeface="Helvetica"/>
              </a:rPr>
              <a:t>A decision</a:t>
            </a:r>
          </a:p>
        </p:txBody>
      </p:sp>
      <p:sp>
        <p:nvSpPr>
          <p:cNvPr id="17" name="s2-text-16">
            <a:extLst xmlns:a="http://schemas.openxmlformats.org/drawingml/2006/main">
              <a:ext uri="{FF2B5EF4-FFF2-40B4-BE49-F238E27FC236}">
                <a16:creationId xmlns:a16="http://schemas.microsoft.com/office/drawing/2014/main" id="{0209E41E-C69F-4F42-B82E-AEB27747FE5D}"/>
              </a:ext>
            </a:extLst>
          </p:cNvPr>
          <p:cNvSpPr>
            <a:spLocks xmlns:a="http://schemas.openxmlformats.org/drawingml/2006/main" noGrp="1"/>
          </p:cNvSpPr>
          <p:nvPr/>
        </p:nvSpPr>
        <p:spPr>
          <a:xfrm xmlns:a="http://schemas.openxmlformats.org/drawingml/2006/main">
            <a:off x="7924800" y="47434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8C908B"/>
                </a:solidFill>
                <a:latin typeface="Helvetica"/>
                <a:ea typeface="Helvetica"/>
                <a:cs typeface="Helvetica"/>
              </a:defRPr>
            </a:pPr>
            <a:r>
              <a:rPr sz="975" b="0">
                <a:solidFill>
                  <a:srgbClr val="8C908B"/>
                </a:solidFill>
                <a:latin typeface="Helvetica"/>
                <a:ea typeface="Helvetica"/>
                <a:cs typeface="Helvetica"/>
              </a:rPr>
              <a:t>WHAT CAN YOU DEFEND?</a:t>
            </a:r>
          </a:p>
        </p:txBody>
      </p:sp>
      <p:sp>
        <p:nvSpPr>
          <p:cNvPr id="18" name="s2-text-17">
            <a:extLst xmlns:a="http://schemas.openxmlformats.org/drawingml/2006/main">
              <a:ext uri="{FF2B5EF4-FFF2-40B4-BE49-F238E27FC236}">
                <a16:creationId xmlns:a16="http://schemas.microsoft.com/office/drawing/2014/main" id="{6EF80571-C1C8-4C7C-8378-E17CF408D3DA}"/>
              </a:ext>
            </a:extLst>
          </p:cNvPr>
          <p:cNvSpPr>
            <a:spLocks xmlns:a="http://schemas.openxmlformats.org/drawingml/2006/main" noGrp="1"/>
          </p:cNvSpPr>
          <p:nvPr/>
        </p:nvSpPr>
        <p:spPr>
          <a:xfrm xmlns:a="http://schemas.openxmlformats.org/drawingml/2006/main">
            <a:off x="609600" y="559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2EFE8"/>
                </a:solidFill>
                <a:latin typeface="Helvetica"/>
                <a:ea typeface="Helvetica"/>
                <a:cs typeface="Helvetica"/>
              </a:defRPr>
            </a:pPr>
            <a:r>
              <a:rPr sz="1725" b="0">
                <a:solidFill>
                  <a:srgbClr val="F2EFE8"/>
                </a:solidFill>
                <a:latin typeface="Helvetica"/>
                <a:ea typeface="Helvetica"/>
                <a:cs typeface="Helvetica"/>
              </a:rPr>
              <a:t>A valuation is only useful when you can examine what produced it.</a:t>
            </a:r>
          </a:p>
        </p:txBody>
      </p:sp>
    </p:spTree>
    <p:extLst>
      <p:ext uri="{BB962C8B-B14F-4D97-AF65-F5344CB8AC3E}">
        <p14:creationId xmlns:p14="http://schemas.microsoft.com/office/powerpoint/2010/main" val="2101291428"/>
      </p:ext>
    </p:extLst>
  </p:cSld>
</p:sld>
</file>

<file path=ppt/slides/slide3.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17" name="s3-text-0">
            <a:extLst xmlns:a="http://schemas.openxmlformats.org/drawingml/2006/main">
              <a:ext uri="{FF2B5EF4-FFF2-40B4-BE49-F238E27FC236}">
                <a16:creationId xmlns:a16="http://schemas.microsoft.com/office/drawing/2014/main" id="{D244C7CF-A778-4B19-A0F0-489155A87593}"/>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APPROACH</a:t>
            </a:r>
          </a:p>
        </p:txBody>
      </p:sp>
      <p:sp>
        <p:nvSpPr>
          <p:cNvPr id="2" name="s3-text-1">
            <a:extLst xmlns:a="http://schemas.openxmlformats.org/drawingml/2006/main">
              <a:ext uri="{FF2B5EF4-FFF2-40B4-BE49-F238E27FC236}">
                <a16:creationId xmlns:a16="http://schemas.microsoft.com/office/drawing/2014/main" id="{A7338EFA-9CF8-4B04-942D-09C030931EF9}"/>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8C908B"/>
                </a:solidFill>
                <a:latin typeface="Helvetica"/>
                <a:ea typeface="Helvetica"/>
                <a:cs typeface="Helvetica"/>
              </a:defRPr>
            </a:pPr>
            <a:r>
              <a:rPr sz="1050" b="0">
                <a:solidFill>
                  <a:srgbClr val="8C908B"/>
                </a:solidFill>
                <a:latin typeface="Helvetica"/>
                <a:ea typeface="Helvetica"/>
                <a:cs typeface="Helvetica"/>
              </a:rPr>
              <a:t>03</a:t>
            </a:r>
          </a:p>
        </p:txBody>
      </p:sp>
      <p:sp>
        <p:nvSpPr>
          <p:cNvPr id="3" name="s3-rule-2">
            <a:extLst xmlns:a="http://schemas.openxmlformats.org/drawingml/2006/main">
              <a:ext uri="{FF2B5EF4-FFF2-40B4-BE49-F238E27FC236}">
                <a16:creationId xmlns:a16="http://schemas.microsoft.com/office/drawing/2014/main" id="{BA6A974D-6E0F-42FA-AAEC-C625A829FAB1}"/>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4" name="s3-text-3">
            <a:extLst xmlns:a="http://schemas.openxmlformats.org/drawingml/2006/main">
              <a:ext uri="{FF2B5EF4-FFF2-40B4-BE49-F238E27FC236}">
                <a16:creationId xmlns:a16="http://schemas.microsoft.com/office/drawing/2014/main" id="{E1F018FA-1C0B-4DA9-B992-AFDFE7CA5DA2}"/>
              </a:ext>
            </a:extLst>
          </p:cNvPr>
          <p:cNvSpPr>
            <a:spLocks xmlns:a="http://schemas.openxmlformats.org/drawingml/2006/main" noGrp="1"/>
          </p:cNvSpPr>
          <p:nvPr/>
        </p:nvSpPr>
        <p:spPr>
          <a:xfrm xmlns:a="http://schemas.openxmlformats.org/drawingml/2006/main">
            <a:off x="609600" y="10191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1">
                <a:solidFill>
                  <a:srgbClr val="F2EFE8"/>
                </a:solidFill>
                <a:latin typeface="Helvetica"/>
                <a:ea typeface="Helvetica"/>
                <a:cs typeface="Helvetica"/>
              </a:defRPr>
            </a:pPr>
            <a:r>
              <a:rPr sz="4050" b="1">
                <a:solidFill>
                  <a:srgbClr val="F2EFE8"/>
                </a:solidFill>
                <a:latin typeface="Helvetica"/>
                <a:ea typeface="Helvetica"/>
                <a:cs typeface="Helvetica"/>
              </a:rPr>
              <a:t>A useful valuation needs context.</a:t>
            </a:r>
          </a:p>
        </p:txBody>
      </p:sp>
      <p:sp>
        <p:nvSpPr>
          <p:cNvPr id="5" name="s3-rule-4">
            <a:extLst xmlns:a="http://schemas.openxmlformats.org/drawingml/2006/main">
              <a:ext uri="{FF2B5EF4-FFF2-40B4-BE49-F238E27FC236}">
                <a16:creationId xmlns:a16="http://schemas.microsoft.com/office/drawing/2014/main" id="{D5455FE1-F40C-4802-9F37-A12DDCBFDB6C}"/>
              </a:ext>
            </a:extLst>
          </p:cNvPr>
          <p:cNvSpPr>
            <a:spLocks xmlns:a="http://schemas.openxmlformats.org/drawingml/2006/main" noGrp="1"/>
          </p:cNvSpPr>
          <p:nvPr/>
        </p:nvSpPr>
        <p:spPr>
          <a:xfrm xmlns:a="http://schemas.openxmlformats.org/drawingml/2006/main">
            <a:off x="6076950" y="2314575"/>
            <a:ext cx="9525" cy="280987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6" name="s3-text-5">
            <a:extLst xmlns:a="http://schemas.openxmlformats.org/drawingml/2006/main">
              <a:ext uri="{FF2B5EF4-FFF2-40B4-BE49-F238E27FC236}">
                <a16:creationId xmlns:a16="http://schemas.microsoft.com/office/drawing/2014/main" id="{E3508EED-EFE0-45C8-92A4-434FB5088014}"/>
              </a:ext>
            </a:extLst>
          </p:cNvPr>
          <p:cNvSpPr>
            <a:spLocks xmlns:a="http://schemas.openxmlformats.org/drawingml/2006/main" noGrp="1"/>
          </p:cNvSpPr>
          <p:nvPr/>
        </p:nvSpPr>
        <p:spPr>
          <a:xfrm xmlns:a="http://schemas.openxmlformats.org/drawingml/2006/main">
            <a:off x="609600" y="23907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COMPANY</a:t>
            </a:r>
          </a:p>
        </p:txBody>
      </p:sp>
      <p:sp>
        <p:nvSpPr>
          <p:cNvPr id="7" name="s3-text-6">
            <a:extLst xmlns:a="http://schemas.openxmlformats.org/drawingml/2006/main">
              <a:ext uri="{FF2B5EF4-FFF2-40B4-BE49-F238E27FC236}">
                <a16:creationId xmlns:a16="http://schemas.microsoft.com/office/drawing/2014/main" id="{9A3AAB94-D83E-40B7-BB40-CDC7AD38796D}"/>
              </a:ext>
            </a:extLst>
          </p:cNvPr>
          <p:cNvSpPr>
            <a:spLocks xmlns:a="http://schemas.openxmlformats.org/drawingml/2006/main" noGrp="1"/>
          </p:cNvSpPr>
          <p:nvPr/>
        </p:nvSpPr>
        <p:spPr>
          <a:xfrm xmlns:a="http://schemas.openxmlformats.org/drawingml/2006/main">
            <a:off x="609600" y="29337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F2EFE8"/>
                </a:solidFill>
                <a:latin typeface="Helvetica"/>
                <a:ea typeface="Helvetica"/>
                <a:cs typeface="Helvetica"/>
              </a:defRPr>
            </a:pPr>
            <a:r>
              <a:rPr sz="2250" b="1">
                <a:solidFill>
                  <a:srgbClr val="F2EFE8"/>
                </a:solidFill>
                <a:latin typeface="Helvetica"/>
                <a:ea typeface="Helvetica"/>
                <a:cs typeface="Helvetica"/>
              </a:rPr>
              <a:t>Start with its economics.</a:t>
            </a:r>
          </a:p>
        </p:txBody>
      </p:sp>
      <p:sp>
        <p:nvSpPr>
          <p:cNvPr id="8" name="s3-text-7">
            <a:extLst xmlns:a="http://schemas.openxmlformats.org/drawingml/2006/main">
              <a:ext uri="{FF2B5EF4-FFF2-40B4-BE49-F238E27FC236}">
                <a16:creationId xmlns:a16="http://schemas.microsoft.com/office/drawing/2014/main" id="{C2C79B02-4BB9-4868-AFAE-B4B14B9C77B3}"/>
              </a:ext>
            </a:extLst>
          </p:cNvPr>
          <p:cNvSpPr>
            <a:spLocks xmlns:a="http://schemas.openxmlformats.org/drawingml/2006/main" noGrp="1"/>
          </p:cNvSpPr>
          <p:nvPr/>
        </p:nvSpPr>
        <p:spPr>
          <a:xfrm xmlns:a="http://schemas.openxmlformats.org/drawingml/2006/main">
            <a:off x="609600" y="36480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Sector, cash-flow history, and risk</a:t>
            </a:r>
          </a:p>
        </p:txBody>
      </p:sp>
      <p:sp>
        <p:nvSpPr>
          <p:cNvPr id="9" name="s3-text-8">
            <a:extLst xmlns:a="http://schemas.openxmlformats.org/drawingml/2006/main">
              <a:ext uri="{FF2B5EF4-FFF2-40B4-BE49-F238E27FC236}">
                <a16:creationId xmlns:a16="http://schemas.microsoft.com/office/drawing/2014/main" id="{6E1AAA54-7E10-4F5A-857B-BE7137A86ABF}"/>
              </a:ext>
            </a:extLst>
          </p:cNvPr>
          <p:cNvSpPr>
            <a:spLocks xmlns:a="http://schemas.openxmlformats.org/drawingml/2006/main" noGrp="1"/>
          </p:cNvSpPr>
          <p:nvPr/>
        </p:nvSpPr>
        <p:spPr>
          <a:xfrm xmlns:a="http://schemas.openxmlformats.org/drawingml/2006/main">
            <a:off x="609600" y="3962400"/>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inform the baseline assumptions.</a:t>
            </a:r>
          </a:p>
        </p:txBody>
      </p:sp>
      <p:sp>
        <p:nvSpPr>
          <p:cNvPr id="10" name="s3-text-9">
            <a:extLst xmlns:a="http://schemas.openxmlformats.org/drawingml/2006/main">
              <a:ext uri="{FF2B5EF4-FFF2-40B4-BE49-F238E27FC236}">
                <a16:creationId xmlns:a16="http://schemas.microsoft.com/office/drawing/2014/main" id="{CFC72F16-90EF-4FD6-B5F0-2CF5336E65A9}"/>
              </a:ext>
            </a:extLst>
          </p:cNvPr>
          <p:cNvSpPr>
            <a:spLocks xmlns:a="http://schemas.openxmlformats.org/drawingml/2006/main" noGrp="1"/>
          </p:cNvSpPr>
          <p:nvPr/>
        </p:nvSpPr>
        <p:spPr>
          <a:xfrm xmlns:a="http://schemas.openxmlformats.org/drawingml/2006/main">
            <a:off x="6610350" y="2390775"/>
            <a:ext cx="497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EVIDENCE</a:t>
            </a:r>
          </a:p>
        </p:txBody>
      </p:sp>
      <p:sp>
        <p:nvSpPr>
          <p:cNvPr id="11" name="s3-text-10">
            <a:extLst xmlns:a="http://schemas.openxmlformats.org/drawingml/2006/main">
              <a:ext uri="{FF2B5EF4-FFF2-40B4-BE49-F238E27FC236}">
                <a16:creationId xmlns:a16="http://schemas.microsoft.com/office/drawing/2014/main" id="{7665A72E-6A1B-4B3C-9FDF-5E995760B5C3}"/>
              </a:ext>
            </a:extLst>
          </p:cNvPr>
          <p:cNvSpPr>
            <a:spLocks xmlns:a="http://schemas.openxmlformats.org/drawingml/2006/main" noGrp="1"/>
          </p:cNvSpPr>
          <p:nvPr/>
        </p:nvSpPr>
        <p:spPr>
          <a:xfrm xmlns:a="http://schemas.openxmlformats.org/drawingml/2006/main">
            <a:off x="6610350" y="2933700"/>
            <a:ext cx="497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F2EFE8"/>
                </a:solidFill>
                <a:latin typeface="Helvetica"/>
                <a:ea typeface="Helvetica"/>
                <a:cs typeface="Helvetica"/>
              </a:defRPr>
            </a:pPr>
            <a:r>
              <a:rPr sz="2250" b="1">
                <a:solidFill>
                  <a:srgbClr val="F2EFE8"/>
                </a:solidFill>
                <a:latin typeface="Helvetica"/>
                <a:ea typeface="Helvetica"/>
                <a:cs typeface="Helvetica"/>
              </a:rPr>
              <a:t>Keep the source attached.</a:t>
            </a:r>
          </a:p>
        </p:txBody>
      </p:sp>
      <p:sp>
        <p:nvSpPr>
          <p:cNvPr id="12" name="s3-text-11">
            <a:extLst xmlns:a="http://schemas.openxmlformats.org/drawingml/2006/main">
              <a:ext uri="{FF2B5EF4-FFF2-40B4-BE49-F238E27FC236}">
                <a16:creationId xmlns:a16="http://schemas.microsoft.com/office/drawing/2014/main" id="{F6F38FE0-E144-4DE4-BF49-CA3FD8190903}"/>
              </a:ext>
            </a:extLst>
          </p:cNvPr>
          <p:cNvSpPr>
            <a:spLocks xmlns:a="http://schemas.openxmlformats.org/drawingml/2006/main" noGrp="1"/>
          </p:cNvSpPr>
          <p:nvPr/>
        </p:nvSpPr>
        <p:spPr>
          <a:xfrm xmlns:a="http://schemas.openxmlformats.org/drawingml/2006/main">
            <a:off x="6610350" y="3648075"/>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Facts retain their filing, period,</a:t>
            </a:r>
          </a:p>
        </p:txBody>
      </p:sp>
      <p:sp>
        <p:nvSpPr>
          <p:cNvPr id="13" name="s3-text-12">
            <a:extLst xmlns:a="http://schemas.openxmlformats.org/drawingml/2006/main">
              <a:ext uri="{FF2B5EF4-FFF2-40B4-BE49-F238E27FC236}">
                <a16:creationId xmlns:a16="http://schemas.microsoft.com/office/drawing/2014/main" id="{FFA877AA-9A2B-4EB0-8208-7214A31B6048}"/>
              </a:ext>
            </a:extLst>
          </p:cNvPr>
          <p:cNvSpPr>
            <a:spLocks xmlns:a="http://schemas.openxmlformats.org/drawingml/2006/main" noGrp="1"/>
          </p:cNvSpPr>
          <p:nvPr/>
        </p:nvSpPr>
        <p:spPr>
          <a:xfrm xmlns:a="http://schemas.openxmlformats.org/drawingml/2006/main">
            <a:off x="6610350" y="3962400"/>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unit, and transformation history.</a:t>
            </a:r>
          </a:p>
        </p:txBody>
      </p:sp>
      <p:sp>
        <p:nvSpPr>
          <p:cNvPr id="14" name="s3-rule-13">
            <a:extLst xmlns:a="http://schemas.openxmlformats.org/drawingml/2006/main">
              <a:ext uri="{FF2B5EF4-FFF2-40B4-BE49-F238E27FC236}">
                <a16:creationId xmlns:a16="http://schemas.microsoft.com/office/drawing/2014/main" id="{D1BA337F-235E-486D-A3BA-DE8BE6304D66}"/>
              </a:ext>
            </a:extLst>
          </p:cNvPr>
          <p:cNvSpPr>
            <a:spLocks xmlns:a="http://schemas.openxmlformats.org/drawingml/2006/main" noGrp="1"/>
          </p:cNvSpPr>
          <p:nvPr/>
        </p:nvSpPr>
        <p:spPr>
          <a:xfrm xmlns:a="http://schemas.openxmlformats.org/drawingml/2006/main">
            <a:off x="609600" y="5429250"/>
            <a:ext cx="10972800" cy="9525"/>
          </a:xfrm>
          <a:prstGeom xmlns:a="http://schemas.openxmlformats.org/drawingml/2006/main" prst="rect">
            <a:avLst/>
          </a:prstGeom>
          <a:solidFill xmlns:a="http://schemas.openxmlformats.org/drawingml/2006/main">
            <a:srgbClr val="C8FF3D"/>
          </a:solidFill>
          <a:ln xmlns:a="http://schemas.openxmlformats.org/drawingml/2006/main" w="0">
            <a:noFill/>
          </a:ln>
        </p:spPr>
      </p:sp>
      <p:sp>
        <p:nvSpPr>
          <p:cNvPr id="15" name="s3-text-14">
            <a:extLst xmlns:a="http://schemas.openxmlformats.org/drawingml/2006/main">
              <a:ext uri="{FF2B5EF4-FFF2-40B4-BE49-F238E27FC236}">
                <a16:creationId xmlns:a16="http://schemas.microsoft.com/office/drawing/2014/main" id="{11BC4597-756E-422B-8A42-278479E307FE}"/>
              </a:ext>
            </a:extLst>
          </p:cNvPr>
          <p:cNvSpPr>
            <a:spLocks xmlns:a="http://schemas.openxmlformats.org/drawingml/2006/main" noGrp="1"/>
          </p:cNvSpPr>
          <p:nvPr/>
        </p:nvSpPr>
        <p:spPr>
          <a:xfrm xmlns:a="http://schemas.openxmlformats.org/drawingml/2006/main">
            <a:off x="609600" y="5734050"/>
            <a:ext cx="158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THE RESULT</a:t>
            </a:r>
          </a:p>
        </p:txBody>
      </p:sp>
      <p:sp>
        <p:nvSpPr>
          <p:cNvPr id="16" name="s3-text-15">
            <a:extLst xmlns:a="http://schemas.openxmlformats.org/drawingml/2006/main">
              <a:ext uri="{FF2B5EF4-FFF2-40B4-BE49-F238E27FC236}">
                <a16:creationId xmlns:a16="http://schemas.microsoft.com/office/drawing/2014/main" id="{D57E3B6A-5521-46DA-94BF-F2B47BE66D94}"/>
              </a:ext>
            </a:extLst>
          </p:cNvPr>
          <p:cNvSpPr>
            <a:spLocks xmlns:a="http://schemas.openxmlformats.org/drawingml/2006/main" noGrp="1"/>
          </p:cNvSpPr>
          <p:nvPr/>
        </p:nvSpPr>
        <p:spPr>
          <a:xfrm xmlns:a="http://schemas.openxmlformats.org/drawingml/2006/main">
            <a:off x="2305050" y="5638800"/>
            <a:ext cx="9277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2EFE8"/>
                </a:solidFill>
                <a:latin typeface="Helvetica"/>
                <a:ea typeface="Helvetica"/>
                <a:cs typeface="Helvetica"/>
              </a:defRPr>
            </a:pPr>
            <a:r>
              <a:rPr sz="1800" b="1">
                <a:solidFill>
                  <a:srgbClr val="F2EFE8"/>
                </a:solidFill>
                <a:latin typeface="Helvetica"/>
                <a:ea typeface="Helvetica"/>
                <a:cs typeface="Helvetica"/>
              </a:rPr>
              <a:t>A number you can inspect, with assumptions you can question.</a:t>
            </a:r>
          </a:p>
        </p:txBody>
      </p:sp>
    </p:spTree>
    <p:extLst>
      <p:ext uri="{BB962C8B-B14F-4D97-AF65-F5344CB8AC3E}">
        <p14:creationId xmlns:p14="http://schemas.microsoft.com/office/powerpoint/2010/main" val="1740659363"/>
      </p:ext>
    </p:extLst>
  </p:cSld>
</p:sld>
</file>

<file path=ppt/slides/slide4.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27" name="s4-text-0">
            <a:extLst xmlns:a="http://schemas.openxmlformats.org/drawingml/2006/main">
              <a:ext uri="{FF2B5EF4-FFF2-40B4-BE49-F238E27FC236}">
                <a16:creationId xmlns:a16="http://schemas.microsoft.com/office/drawing/2014/main" id="{755015C6-23BA-4448-A096-02F8C20741E6}"/>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WORKFLOW</a:t>
            </a:r>
          </a:p>
        </p:txBody>
      </p:sp>
      <p:sp>
        <p:nvSpPr>
          <p:cNvPr id="2" name="s4-text-1">
            <a:extLst xmlns:a="http://schemas.openxmlformats.org/drawingml/2006/main">
              <a:ext uri="{FF2B5EF4-FFF2-40B4-BE49-F238E27FC236}">
                <a16:creationId xmlns:a16="http://schemas.microsoft.com/office/drawing/2014/main" id="{0D1E6979-6218-4686-8102-A8618D2E15E5}"/>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8C908B"/>
                </a:solidFill>
                <a:latin typeface="Helvetica"/>
                <a:ea typeface="Helvetica"/>
                <a:cs typeface="Helvetica"/>
              </a:defRPr>
            </a:pPr>
            <a:r>
              <a:rPr sz="1050" b="0">
                <a:solidFill>
                  <a:srgbClr val="8C908B"/>
                </a:solidFill>
                <a:latin typeface="Helvetica"/>
                <a:ea typeface="Helvetica"/>
                <a:cs typeface="Helvetica"/>
              </a:rPr>
              <a:t>04</a:t>
            </a:r>
          </a:p>
        </p:txBody>
      </p:sp>
      <p:sp>
        <p:nvSpPr>
          <p:cNvPr id="3" name="s4-rule-2">
            <a:extLst xmlns:a="http://schemas.openxmlformats.org/drawingml/2006/main">
              <a:ext uri="{FF2B5EF4-FFF2-40B4-BE49-F238E27FC236}">
                <a16:creationId xmlns:a16="http://schemas.microsoft.com/office/drawing/2014/main" id="{E026E4B7-BA88-461B-9539-C65DC2E26EF2}"/>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4" name="s4-text-3">
            <a:extLst xmlns:a="http://schemas.openxmlformats.org/drawingml/2006/main">
              <a:ext uri="{FF2B5EF4-FFF2-40B4-BE49-F238E27FC236}">
                <a16:creationId xmlns:a16="http://schemas.microsoft.com/office/drawing/2014/main" id="{0B3634DF-A56D-45F4-9356-D9C0DDF42BC4}"/>
              </a:ext>
            </a:extLst>
          </p:cNvPr>
          <p:cNvSpPr>
            <a:spLocks xmlns:a="http://schemas.openxmlformats.org/drawingml/2006/main" noGrp="1"/>
          </p:cNvSpPr>
          <p:nvPr/>
        </p:nvSpPr>
        <p:spPr>
          <a:xfrm xmlns:a="http://schemas.openxmlformats.org/drawingml/2006/main">
            <a:off x="609600" y="10191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1">
                <a:solidFill>
                  <a:srgbClr val="F2EFE8"/>
                </a:solidFill>
                <a:latin typeface="Helvetica"/>
                <a:ea typeface="Helvetica"/>
                <a:cs typeface="Helvetica"/>
              </a:defRPr>
            </a:pPr>
            <a:r>
              <a:rPr sz="4050" b="1">
                <a:solidFill>
                  <a:srgbClr val="F2EFE8"/>
                </a:solidFill>
                <a:latin typeface="Helvetica"/>
                <a:ea typeface="Helvetica"/>
                <a:cs typeface="Helvetica"/>
              </a:rPr>
              <a:t>Trace the valuation back to facts.</a:t>
            </a:r>
          </a:p>
        </p:txBody>
      </p:sp>
      <p:sp>
        <p:nvSpPr>
          <p:cNvPr id="5" name="s4-text-4">
            <a:extLst xmlns:a="http://schemas.openxmlformats.org/drawingml/2006/main">
              <a:ext uri="{FF2B5EF4-FFF2-40B4-BE49-F238E27FC236}">
                <a16:creationId xmlns:a16="http://schemas.microsoft.com/office/drawing/2014/main" id="{EC34DDD5-3EB0-4EE0-A47C-A6E8EAC8EF72}"/>
              </a:ext>
            </a:extLst>
          </p:cNvPr>
          <p:cNvSpPr>
            <a:spLocks xmlns:a="http://schemas.openxmlformats.org/drawingml/2006/main" noGrp="1"/>
          </p:cNvSpPr>
          <p:nvPr/>
        </p:nvSpPr>
        <p:spPr>
          <a:xfrm xmlns:a="http://schemas.openxmlformats.org/drawingml/2006/main">
            <a:off x="609600" y="265747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01</a:t>
            </a:r>
          </a:p>
        </p:txBody>
      </p:sp>
      <p:sp>
        <p:nvSpPr>
          <p:cNvPr id="6" name="s4-text-5">
            <a:extLst xmlns:a="http://schemas.openxmlformats.org/drawingml/2006/main">
              <a:ext uri="{FF2B5EF4-FFF2-40B4-BE49-F238E27FC236}">
                <a16:creationId xmlns:a16="http://schemas.microsoft.com/office/drawing/2014/main" id="{40A43E9B-1328-4FAB-8D21-BD2C7F61B3E5}"/>
              </a:ext>
            </a:extLst>
          </p:cNvPr>
          <p:cNvSpPr>
            <a:spLocks xmlns:a="http://schemas.openxmlformats.org/drawingml/2006/main" noGrp="1"/>
          </p:cNvSpPr>
          <p:nvPr/>
        </p:nvSpPr>
        <p:spPr>
          <a:xfrm xmlns:a="http://schemas.openxmlformats.org/drawingml/2006/main">
            <a:off x="609600" y="312420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F2EFE8"/>
                </a:solidFill>
                <a:latin typeface="Helvetica"/>
                <a:ea typeface="Helvetica"/>
                <a:cs typeface="Helvetica"/>
              </a:defRPr>
            </a:pPr>
            <a:r>
              <a:rPr sz="2850" b="1">
                <a:solidFill>
                  <a:srgbClr val="F2EFE8"/>
                </a:solidFill>
                <a:latin typeface="Helvetica"/>
                <a:ea typeface="Helvetica"/>
                <a:cs typeface="Helvetica"/>
              </a:rPr>
              <a:t>SEC</a:t>
            </a:r>
          </a:p>
        </p:txBody>
      </p:sp>
      <p:sp>
        <p:nvSpPr>
          <p:cNvPr id="7" name="s4-text-6">
            <a:extLst xmlns:a="http://schemas.openxmlformats.org/drawingml/2006/main">
              <a:ext uri="{FF2B5EF4-FFF2-40B4-BE49-F238E27FC236}">
                <a16:creationId xmlns:a16="http://schemas.microsoft.com/office/drawing/2014/main" id="{3EF6A475-1775-4BD2-A01B-D501A57C507D}"/>
              </a:ext>
            </a:extLst>
          </p:cNvPr>
          <p:cNvSpPr>
            <a:spLocks xmlns:a="http://schemas.openxmlformats.org/drawingml/2006/main" noGrp="1"/>
          </p:cNvSpPr>
          <p:nvPr/>
        </p:nvSpPr>
        <p:spPr>
          <a:xfrm xmlns:a="http://schemas.openxmlformats.org/drawingml/2006/main">
            <a:off x="609600" y="356235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F2EFE8"/>
                </a:solidFill>
                <a:latin typeface="Helvetica"/>
                <a:ea typeface="Helvetica"/>
                <a:cs typeface="Helvetica"/>
              </a:defRPr>
            </a:pPr>
            <a:r>
              <a:rPr sz="2850" b="1">
                <a:solidFill>
                  <a:srgbClr val="F2EFE8"/>
                </a:solidFill>
                <a:latin typeface="Helvetica"/>
                <a:ea typeface="Helvetica"/>
                <a:cs typeface="Helvetica"/>
              </a:rPr>
              <a:t>FACTS</a:t>
            </a:r>
          </a:p>
        </p:txBody>
      </p:sp>
      <p:sp>
        <p:nvSpPr>
          <p:cNvPr id="8" name="s4-rule-7">
            <a:extLst xmlns:a="http://schemas.openxmlformats.org/drawingml/2006/main">
              <a:ext uri="{FF2B5EF4-FFF2-40B4-BE49-F238E27FC236}">
                <a16:creationId xmlns:a16="http://schemas.microsoft.com/office/drawing/2014/main" id="{EF21202F-79C7-4953-A3C8-E39E99702A2E}"/>
              </a:ext>
            </a:extLst>
          </p:cNvPr>
          <p:cNvSpPr>
            <a:spLocks xmlns:a="http://schemas.openxmlformats.org/drawingml/2006/main" noGrp="1"/>
          </p:cNvSpPr>
          <p:nvPr/>
        </p:nvSpPr>
        <p:spPr>
          <a:xfrm xmlns:a="http://schemas.openxmlformats.org/drawingml/2006/main">
            <a:off x="609600" y="4400550"/>
            <a:ext cx="2095500" cy="38100"/>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9" name="s4-text-8">
            <a:extLst xmlns:a="http://schemas.openxmlformats.org/drawingml/2006/main">
              <a:ext uri="{FF2B5EF4-FFF2-40B4-BE49-F238E27FC236}">
                <a16:creationId xmlns:a16="http://schemas.microsoft.com/office/drawing/2014/main" id="{4AEB5980-31D3-4C7C-8D61-87D9176D0861}"/>
              </a:ext>
            </a:extLst>
          </p:cNvPr>
          <p:cNvSpPr>
            <a:spLocks xmlns:a="http://schemas.openxmlformats.org/drawingml/2006/main" noGrp="1"/>
          </p:cNvSpPr>
          <p:nvPr/>
        </p:nvSpPr>
        <p:spPr>
          <a:xfrm xmlns:a="http://schemas.openxmlformats.org/drawingml/2006/main">
            <a:off x="2895600" y="3381375"/>
            <a:ext cx="409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8C908B"/>
                </a:solidFill>
                <a:latin typeface="Helvetica"/>
                <a:ea typeface="Helvetica"/>
                <a:cs typeface="Helvetica"/>
              </a:defRPr>
            </a:pPr>
            <a:r>
              <a:rPr sz="2400" b="0">
                <a:solidFill>
                  <a:srgbClr val="8C908B"/>
                </a:solidFill>
                <a:latin typeface="Helvetica"/>
                <a:ea typeface="Helvetica"/>
                <a:cs typeface="Helvetica"/>
              </a:rPr>
              <a:t>→</a:t>
            </a:r>
          </a:p>
        </p:txBody>
      </p:sp>
      <p:sp>
        <p:nvSpPr>
          <p:cNvPr id="10" name="s4-text-9">
            <a:extLst xmlns:a="http://schemas.openxmlformats.org/drawingml/2006/main">
              <a:ext uri="{FF2B5EF4-FFF2-40B4-BE49-F238E27FC236}">
                <a16:creationId xmlns:a16="http://schemas.microsoft.com/office/drawing/2014/main" id="{205AE7B9-6D10-4C92-B102-209AC2F29542}"/>
              </a:ext>
            </a:extLst>
          </p:cNvPr>
          <p:cNvSpPr>
            <a:spLocks xmlns:a="http://schemas.openxmlformats.org/drawingml/2006/main" noGrp="1"/>
          </p:cNvSpPr>
          <p:nvPr/>
        </p:nvSpPr>
        <p:spPr>
          <a:xfrm xmlns:a="http://schemas.openxmlformats.org/drawingml/2006/main">
            <a:off x="3352800" y="265747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02</a:t>
            </a:r>
          </a:p>
        </p:txBody>
      </p:sp>
      <p:sp>
        <p:nvSpPr>
          <p:cNvPr id="11" name="s4-text-10">
            <a:extLst xmlns:a="http://schemas.openxmlformats.org/drawingml/2006/main">
              <a:ext uri="{FF2B5EF4-FFF2-40B4-BE49-F238E27FC236}">
                <a16:creationId xmlns:a16="http://schemas.microsoft.com/office/drawing/2014/main" id="{41F51DB4-3BEF-467D-84AA-5613E927CA7E}"/>
              </a:ext>
            </a:extLst>
          </p:cNvPr>
          <p:cNvSpPr>
            <a:spLocks xmlns:a="http://schemas.openxmlformats.org/drawingml/2006/main" noGrp="1"/>
          </p:cNvSpPr>
          <p:nvPr/>
        </p:nvSpPr>
        <p:spPr>
          <a:xfrm xmlns:a="http://schemas.openxmlformats.org/drawingml/2006/main">
            <a:off x="3352800" y="312420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C8FF3D"/>
                </a:solidFill>
                <a:latin typeface="Helvetica"/>
                <a:ea typeface="Helvetica"/>
                <a:cs typeface="Helvetica"/>
              </a:defRPr>
            </a:pPr>
            <a:r>
              <a:rPr sz="2850" b="1">
                <a:solidFill>
                  <a:srgbClr val="C8FF3D"/>
                </a:solidFill>
                <a:latin typeface="Helvetica"/>
                <a:ea typeface="Helvetica"/>
                <a:cs typeface="Helvetica"/>
              </a:rPr>
              <a:t>SECTOR</a:t>
            </a:r>
          </a:p>
        </p:txBody>
      </p:sp>
      <p:sp>
        <p:nvSpPr>
          <p:cNvPr id="12" name="s4-text-11">
            <a:extLst xmlns:a="http://schemas.openxmlformats.org/drawingml/2006/main">
              <a:ext uri="{FF2B5EF4-FFF2-40B4-BE49-F238E27FC236}">
                <a16:creationId xmlns:a16="http://schemas.microsoft.com/office/drawing/2014/main" id="{FFA3465A-5F7F-4F9E-90F4-3AE107E55A6C}"/>
              </a:ext>
            </a:extLst>
          </p:cNvPr>
          <p:cNvSpPr>
            <a:spLocks xmlns:a="http://schemas.openxmlformats.org/drawingml/2006/main" noGrp="1"/>
          </p:cNvSpPr>
          <p:nvPr/>
        </p:nvSpPr>
        <p:spPr>
          <a:xfrm xmlns:a="http://schemas.openxmlformats.org/drawingml/2006/main">
            <a:off x="3352800" y="356235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C8FF3D"/>
                </a:solidFill>
                <a:latin typeface="Helvetica"/>
                <a:ea typeface="Helvetica"/>
                <a:cs typeface="Helvetica"/>
              </a:defRPr>
            </a:pPr>
            <a:r>
              <a:rPr sz="2850" b="1">
                <a:solidFill>
                  <a:srgbClr val="C8FF3D"/>
                </a:solidFill>
                <a:latin typeface="Helvetica"/>
                <a:ea typeface="Helvetica"/>
                <a:cs typeface="Helvetica"/>
              </a:rPr>
              <a:t>BASELINE</a:t>
            </a:r>
          </a:p>
        </p:txBody>
      </p:sp>
      <p:sp>
        <p:nvSpPr>
          <p:cNvPr id="13" name="s4-rule-12">
            <a:extLst xmlns:a="http://schemas.openxmlformats.org/drawingml/2006/main">
              <a:ext uri="{FF2B5EF4-FFF2-40B4-BE49-F238E27FC236}">
                <a16:creationId xmlns:a16="http://schemas.microsoft.com/office/drawing/2014/main" id="{D2BFC8BE-6CCA-40B4-8F61-A8DA2A249797}"/>
              </a:ext>
            </a:extLst>
          </p:cNvPr>
          <p:cNvSpPr>
            <a:spLocks xmlns:a="http://schemas.openxmlformats.org/drawingml/2006/main" noGrp="1"/>
          </p:cNvSpPr>
          <p:nvPr/>
        </p:nvSpPr>
        <p:spPr>
          <a:xfrm xmlns:a="http://schemas.openxmlformats.org/drawingml/2006/main">
            <a:off x="3352800" y="4400550"/>
            <a:ext cx="2095500" cy="38100"/>
          </a:xfrm>
          <a:prstGeom xmlns:a="http://schemas.openxmlformats.org/drawingml/2006/main" prst="rect">
            <a:avLst/>
          </a:prstGeom>
          <a:solidFill xmlns:a="http://schemas.openxmlformats.org/drawingml/2006/main">
            <a:srgbClr val="C8FF3D"/>
          </a:solidFill>
          <a:ln xmlns:a="http://schemas.openxmlformats.org/drawingml/2006/main" w="0">
            <a:noFill/>
          </a:ln>
        </p:spPr>
      </p:sp>
      <p:sp>
        <p:nvSpPr>
          <p:cNvPr id="14" name="s4-text-13">
            <a:extLst xmlns:a="http://schemas.openxmlformats.org/drawingml/2006/main">
              <a:ext uri="{FF2B5EF4-FFF2-40B4-BE49-F238E27FC236}">
                <a16:creationId xmlns:a16="http://schemas.microsoft.com/office/drawing/2014/main" id="{5F5333E6-B1ED-41CE-BDBF-484D2C1109B3}"/>
              </a:ext>
            </a:extLst>
          </p:cNvPr>
          <p:cNvSpPr>
            <a:spLocks xmlns:a="http://schemas.openxmlformats.org/drawingml/2006/main" noGrp="1"/>
          </p:cNvSpPr>
          <p:nvPr/>
        </p:nvSpPr>
        <p:spPr>
          <a:xfrm xmlns:a="http://schemas.openxmlformats.org/drawingml/2006/main">
            <a:off x="5638800" y="3381375"/>
            <a:ext cx="409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8C908B"/>
                </a:solidFill>
                <a:latin typeface="Helvetica"/>
                <a:ea typeface="Helvetica"/>
                <a:cs typeface="Helvetica"/>
              </a:defRPr>
            </a:pPr>
            <a:r>
              <a:rPr sz="2400" b="0">
                <a:solidFill>
                  <a:srgbClr val="8C908B"/>
                </a:solidFill>
                <a:latin typeface="Helvetica"/>
                <a:ea typeface="Helvetica"/>
                <a:cs typeface="Helvetica"/>
              </a:rPr>
              <a:t>→</a:t>
            </a:r>
          </a:p>
        </p:txBody>
      </p:sp>
      <p:sp>
        <p:nvSpPr>
          <p:cNvPr id="15" name="s4-text-14">
            <a:extLst xmlns:a="http://schemas.openxmlformats.org/drawingml/2006/main">
              <a:ext uri="{FF2B5EF4-FFF2-40B4-BE49-F238E27FC236}">
                <a16:creationId xmlns:a16="http://schemas.microsoft.com/office/drawing/2014/main" id="{C0EE13B8-F677-4886-A9EB-7A90DCB57856}"/>
              </a:ext>
            </a:extLst>
          </p:cNvPr>
          <p:cNvSpPr>
            <a:spLocks xmlns:a="http://schemas.openxmlformats.org/drawingml/2006/main" noGrp="1"/>
          </p:cNvSpPr>
          <p:nvPr/>
        </p:nvSpPr>
        <p:spPr>
          <a:xfrm xmlns:a="http://schemas.openxmlformats.org/drawingml/2006/main">
            <a:off x="6096000" y="265747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03</a:t>
            </a:r>
          </a:p>
        </p:txBody>
      </p:sp>
      <p:sp>
        <p:nvSpPr>
          <p:cNvPr id="16" name="s4-text-15">
            <a:extLst xmlns:a="http://schemas.openxmlformats.org/drawingml/2006/main">
              <a:ext uri="{FF2B5EF4-FFF2-40B4-BE49-F238E27FC236}">
                <a16:creationId xmlns:a16="http://schemas.microsoft.com/office/drawing/2014/main" id="{3336829E-B3BD-4F6C-8C38-A49BE771B125}"/>
              </a:ext>
            </a:extLst>
          </p:cNvPr>
          <p:cNvSpPr>
            <a:spLocks xmlns:a="http://schemas.openxmlformats.org/drawingml/2006/main" noGrp="1"/>
          </p:cNvSpPr>
          <p:nvPr/>
        </p:nvSpPr>
        <p:spPr>
          <a:xfrm xmlns:a="http://schemas.openxmlformats.org/drawingml/2006/main">
            <a:off x="6096000" y="312420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F2EFE8"/>
                </a:solidFill>
                <a:latin typeface="Helvetica"/>
                <a:ea typeface="Helvetica"/>
                <a:cs typeface="Helvetica"/>
              </a:defRPr>
            </a:pPr>
            <a:r>
              <a:rPr sz="2850" b="1">
                <a:solidFill>
                  <a:srgbClr val="F2EFE8"/>
                </a:solidFill>
                <a:latin typeface="Helvetica"/>
                <a:ea typeface="Helvetica"/>
                <a:cs typeface="Helvetica"/>
              </a:rPr>
              <a:t>BOUNDED</a:t>
            </a:r>
          </a:p>
        </p:txBody>
      </p:sp>
      <p:sp>
        <p:nvSpPr>
          <p:cNvPr id="17" name="s4-text-16">
            <a:extLst xmlns:a="http://schemas.openxmlformats.org/drawingml/2006/main">
              <a:ext uri="{FF2B5EF4-FFF2-40B4-BE49-F238E27FC236}">
                <a16:creationId xmlns:a16="http://schemas.microsoft.com/office/drawing/2014/main" id="{518FA8A5-5ABE-46B6-BA1B-38178F5EE30D}"/>
              </a:ext>
            </a:extLst>
          </p:cNvPr>
          <p:cNvSpPr>
            <a:spLocks xmlns:a="http://schemas.openxmlformats.org/drawingml/2006/main" noGrp="1"/>
          </p:cNvSpPr>
          <p:nvPr/>
        </p:nvSpPr>
        <p:spPr>
          <a:xfrm xmlns:a="http://schemas.openxmlformats.org/drawingml/2006/main">
            <a:off x="6096000" y="356235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F2EFE8"/>
                </a:solidFill>
                <a:latin typeface="Helvetica"/>
                <a:ea typeface="Helvetica"/>
                <a:cs typeface="Helvetica"/>
              </a:defRPr>
            </a:pPr>
            <a:r>
              <a:rPr sz="2850" b="1">
                <a:solidFill>
                  <a:srgbClr val="F2EFE8"/>
                </a:solidFill>
                <a:latin typeface="Helvetica"/>
                <a:ea typeface="Helvetica"/>
                <a:cs typeface="Helvetica"/>
              </a:rPr>
              <a:t>AI REVIEW</a:t>
            </a:r>
          </a:p>
        </p:txBody>
      </p:sp>
      <p:sp>
        <p:nvSpPr>
          <p:cNvPr id="18" name="s4-rule-17">
            <a:extLst xmlns:a="http://schemas.openxmlformats.org/drawingml/2006/main">
              <a:ext uri="{FF2B5EF4-FFF2-40B4-BE49-F238E27FC236}">
                <a16:creationId xmlns:a16="http://schemas.microsoft.com/office/drawing/2014/main" id="{6E6086D9-B655-4158-B239-324861B66BDD}"/>
              </a:ext>
            </a:extLst>
          </p:cNvPr>
          <p:cNvSpPr>
            <a:spLocks xmlns:a="http://schemas.openxmlformats.org/drawingml/2006/main" noGrp="1"/>
          </p:cNvSpPr>
          <p:nvPr/>
        </p:nvSpPr>
        <p:spPr>
          <a:xfrm xmlns:a="http://schemas.openxmlformats.org/drawingml/2006/main">
            <a:off x="6096000" y="4400550"/>
            <a:ext cx="2095500" cy="38100"/>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19" name="s4-text-18">
            <a:extLst xmlns:a="http://schemas.openxmlformats.org/drawingml/2006/main">
              <a:ext uri="{FF2B5EF4-FFF2-40B4-BE49-F238E27FC236}">
                <a16:creationId xmlns:a16="http://schemas.microsoft.com/office/drawing/2014/main" id="{4108F4F7-20EB-4411-A6EA-902D884BAE90}"/>
              </a:ext>
            </a:extLst>
          </p:cNvPr>
          <p:cNvSpPr>
            <a:spLocks xmlns:a="http://schemas.openxmlformats.org/drawingml/2006/main" noGrp="1"/>
          </p:cNvSpPr>
          <p:nvPr/>
        </p:nvSpPr>
        <p:spPr>
          <a:xfrm xmlns:a="http://schemas.openxmlformats.org/drawingml/2006/main">
            <a:off x="8382000" y="3381375"/>
            <a:ext cx="409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8C908B"/>
                </a:solidFill>
                <a:latin typeface="Helvetica"/>
                <a:ea typeface="Helvetica"/>
                <a:cs typeface="Helvetica"/>
              </a:defRPr>
            </a:pPr>
            <a:r>
              <a:rPr sz="2400" b="0">
                <a:solidFill>
                  <a:srgbClr val="8C908B"/>
                </a:solidFill>
                <a:latin typeface="Helvetica"/>
                <a:ea typeface="Helvetica"/>
                <a:cs typeface="Helvetica"/>
              </a:rPr>
              <a:t>→</a:t>
            </a:r>
          </a:p>
        </p:txBody>
      </p:sp>
      <p:sp>
        <p:nvSpPr>
          <p:cNvPr id="20" name="s4-text-19">
            <a:extLst xmlns:a="http://schemas.openxmlformats.org/drawingml/2006/main">
              <a:ext uri="{FF2B5EF4-FFF2-40B4-BE49-F238E27FC236}">
                <a16:creationId xmlns:a16="http://schemas.microsoft.com/office/drawing/2014/main" id="{42C9BBF0-82FA-45C5-ADBE-83566723AD9D}"/>
              </a:ext>
            </a:extLst>
          </p:cNvPr>
          <p:cNvSpPr>
            <a:spLocks xmlns:a="http://schemas.openxmlformats.org/drawingml/2006/main" noGrp="1"/>
          </p:cNvSpPr>
          <p:nvPr/>
        </p:nvSpPr>
        <p:spPr>
          <a:xfrm xmlns:a="http://schemas.openxmlformats.org/drawingml/2006/main">
            <a:off x="8839200" y="265747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04</a:t>
            </a:r>
          </a:p>
        </p:txBody>
      </p:sp>
      <p:sp>
        <p:nvSpPr>
          <p:cNvPr id="21" name="s4-text-20">
            <a:extLst xmlns:a="http://schemas.openxmlformats.org/drawingml/2006/main">
              <a:ext uri="{FF2B5EF4-FFF2-40B4-BE49-F238E27FC236}">
                <a16:creationId xmlns:a16="http://schemas.microsoft.com/office/drawing/2014/main" id="{D113C654-1E51-4AD9-95A0-31027DD21806}"/>
              </a:ext>
            </a:extLst>
          </p:cNvPr>
          <p:cNvSpPr>
            <a:spLocks xmlns:a="http://schemas.openxmlformats.org/drawingml/2006/main" noGrp="1"/>
          </p:cNvSpPr>
          <p:nvPr/>
        </p:nvSpPr>
        <p:spPr>
          <a:xfrm xmlns:a="http://schemas.openxmlformats.org/drawingml/2006/main">
            <a:off x="8839200" y="312420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F2EFE8"/>
                </a:solidFill>
                <a:latin typeface="Helvetica"/>
                <a:ea typeface="Helvetica"/>
                <a:cs typeface="Helvetica"/>
              </a:defRPr>
            </a:pPr>
            <a:r>
              <a:rPr sz="2850" b="1">
                <a:solidFill>
                  <a:srgbClr val="F2EFE8"/>
                </a:solidFill>
                <a:latin typeface="Helvetica"/>
                <a:ea typeface="Helvetica"/>
                <a:cs typeface="Helvetica"/>
              </a:rPr>
              <a:t>FINAL</a:t>
            </a:r>
          </a:p>
        </p:txBody>
      </p:sp>
      <p:sp>
        <p:nvSpPr>
          <p:cNvPr id="22" name="s4-text-21">
            <a:extLst xmlns:a="http://schemas.openxmlformats.org/drawingml/2006/main">
              <a:ext uri="{FF2B5EF4-FFF2-40B4-BE49-F238E27FC236}">
                <a16:creationId xmlns:a16="http://schemas.microsoft.com/office/drawing/2014/main" id="{61E1A309-F1CB-413B-9C24-03B6DD5FBD4E}"/>
              </a:ext>
            </a:extLst>
          </p:cNvPr>
          <p:cNvSpPr>
            <a:spLocks xmlns:a="http://schemas.openxmlformats.org/drawingml/2006/main" noGrp="1"/>
          </p:cNvSpPr>
          <p:nvPr/>
        </p:nvSpPr>
        <p:spPr>
          <a:xfrm xmlns:a="http://schemas.openxmlformats.org/drawingml/2006/main">
            <a:off x="8839200" y="3562350"/>
            <a:ext cx="233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F2EFE8"/>
                </a:solidFill>
                <a:latin typeface="Helvetica"/>
                <a:ea typeface="Helvetica"/>
                <a:cs typeface="Helvetica"/>
              </a:defRPr>
            </a:pPr>
            <a:r>
              <a:rPr sz="2850" b="1">
                <a:solidFill>
                  <a:srgbClr val="F2EFE8"/>
                </a:solidFill>
                <a:latin typeface="Helvetica"/>
                <a:ea typeface="Helvetica"/>
                <a:cs typeface="Helvetica"/>
              </a:rPr>
              <a:t>VALUATION</a:t>
            </a:r>
          </a:p>
        </p:txBody>
      </p:sp>
      <p:sp>
        <p:nvSpPr>
          <p:cNvPr id="23" name="s4-rule-22">
            <a:extLst xmlns:a="http://schemas.openxmlformats.org/drawingml/2006/main">
              <a:ext uri="{FF2B5EF4-FFF2-40B4-BE49-F238E27FC236}">
                <a16:creationId xmlns:a16="http://schemas.microsoft.com/office/drawing/2014/main" id="{5BFB0616-F107-4EEA-893F-F3CD408C3652}"/>
              </a:ext>
            </a:extLst>
          </p:cNvPr>
          <p:cNvSpPr>
            <a:spLocks xmlns:a="http://schemas.openxmlformats.org/drawingml/2006/main" noGrp="1"/>
          </p:cNvSpPr>
          <p:nvPr/>
        </p:nvSpPr>
        <p:spPr>
          <a:xfrm xmlns:a="http://schemas.openxmlformats.org/drawingml/2006/main">
            <a:off x="8839200" y="4400550"/>
            <a:ext cx="2095500" cy="38100"/>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24" name="s4-text-23">
            <a:extLst xmlns:a="http://schemas.openxmlformats.org/drawingml/2006/main">
              <a:ext uri="{FF2B5EF4-FFF2-40B4-BE49-F238E27FC236}">
                <a16:creationId xmlns:a16="http://schemas.microsoft.com/office/drawing/2014/main" id="{2A3E5AD8-C510-4FAD-AB2E-47C1CBA0783F}"/>
              </a:ext>
            </a:extLst>
          </p:cNvPr>
          <p:cNvSpPr>
            <a:spLocks xmlns:a="http://schemas.openxmlformats.org/drawingml/2006/main" noGrp="1"/>
          </p:cNvSpPr>
          <p:nvPr/>
        </p:nvSpPr>
        <p:spPr>
          <a:xfrm xmlns:a="http://schemas.openxmlformats.org/drawingml/2006/main">
            <a:off x="609600" y="48101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EVERY STEP STAYS VISIBLE</a:t>
            </a:r>
          </a:p>
        </p:txBody>
      </p:sp>
      <p:sp>
        <p:nvSpPr>
          <p:cNvPr id="25" name="s4-text-24">
            <a:extLst xmlns:a="http://schemas.openxmlformats.org/drawingml/2006/main">
              <a:ext uri="{FF2B5EF4-FFF2-40B4-BE49-F238E27FC236}">
                <a16:creationId xmlns:a16="http://schemas.microsoft.com/office/drawing/2014/main" id="{EFED743F-99E4-4813-9F08-FFA41FCDAFD1}"/>
              </a:ext>
            </a:extLst>
          </p:cNvPr>
          <p:cNvSpPr>
            <a:spLocks xmlns:a="http://schemas.openxmlformats.org/drawingml/2006/main" noGrp="1"/>
          </p:cNvSpPr>
          <p:nvPr/>
        </p:nvSpPr>
        <p:spPr>
          <a:xfrm xmlns:a="http://schemas.openxmlformats.org/drawingml/2006/main">
            <a:off x="609600" y="5219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2EFE8"/>
                </a:solidFill>
                <a:latin typeface="Helvetica"/>
                <a:ea typeface="Helvetica"/>
                <a:cs typeface="Helvetica"/>
              </a:defRPr>
            </a:pPr>
            <a:r>
              <a:rPr sz="1800" b="0">
                <a:solidFill>
                  <a:srgbClr val="F2EFE8"/>
                </a:solidFill>
                <a:latin typeface="Helvetica"/>
                <a:ea typeface="Helvetica"/>
                <a:cs typeface="Helvetica"/>
              </a:rPr>
              <a:t>Source facts → baseline → validated changes → valuation impact.</a:t>
            </a:r>
          </a:p>
        </p:txBody>
      </p:sp>
      <p:sp>
        <p:nvSpPr>
          <p:cNvPr id="26" name="s4-text-25">
            <a:extLst xmlns:a="http://schemas.openxmlformats.org/drawingml/2006/main">
              <a:ext uri="{FF2B5EF4-FFF2-40B4-BE49-F238E27FC236}">
                <a16:creationId xmlns:a16="http://schemas.microsoft.com/office/drawing/2014/main" id="{99A265C9-1E80-41D3-87BC-73EBC712FC72}"/>
              </a:ext>
            </a:extLst>
          </p:cNvPr>
          <p:cNvSpPr>
            <a:spLocks xmlns:a="http://schemas.openxmlformats.org/drawingml/2006/main" noGrp="1"/>
          </p:cNvSpPr>
          <p:nvPr/>
        </p:nvSpPr>
        <p:spPr>
          <a:xfrm xmlns:a="http://schemas.openxmlformats.org/drawingml/2006/main">
            <a:off x="609600" y="5619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8C908B"/>
                </a:solidFill>
                <a:latin typeface="Helvetica"/>
                <a:ea typeface="Helvetica"/>
                <a:cs typeface="Helvetica"/>
              </a:defRPr>
            </a:pPr>
            <a:r>
              <a:rPr sz="1650" b="0">
                <a:solidFill>
                  <a:srgbClr val="8C908B"/>
                </a:solidFill>
                <a:latin typeface="Helvetica"/>
                <a:ea typeface="Helvetica"/>
                <a:cs typeface="Helvetica"/>
              </a:rPr>
              <a:t>If AI is unavailable or invalid, the deterministic baseline is preserved.</a:t>
            </a:r>
          </a:p>
        </p:txBody>
      </p:sp>
    </p:spTree>
    <p:extLst>
      <p:ext uri="{BB962C8B-B14F-4D97-AF65-F5344CB8AC3E}">
        <p14:creationId xmlns:p14="http://schemas.microsoft.com/office/powerpoint/2010/main" val="1886003156"/>
      </p:ext>
    </p:extLst>
  </p:cSld>
</p:sld>
</file>

<file path=ppt/slides/slide5.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20" name="s5-text-0">
            <a:extLst xmlns:a="http://schemas.openxmlformats.org/drawingml/2006/main">
              <a:ext uri="{FF2B5EF4-FFF2-40B4-BE49-F238E27FC236}">
                <a16:creationId xmlns:a16="http://schemas.microsoft.com/office/drawing/2014/main" id="{A063EE22-D042-4311-824E-039F0FE62B4F}"/>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EXPERIENCE</a:t>
            </a:r>
          </a:p>
        </p:txBody>
      </p:sp>
      <p:sp>
        <p:nvSpPr>
          <p:cNvPr id="2" name="s5-text-1">
            <a:extLst xmlns:a="http://schemas.openxmlformats.org/drawingml/2006/main">
              <a:ext uri="{FF2B5EF4-FFF2-40B4-BE49-F238E27FC236}">
                <a16:creationId xmlns:a16="http://schemas.microsoft.com/office/drawing/2014/main" id="{3399A5E3-3DC5-4055-8982-12DF2D2199D8}"/>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8C908B"/>
                </a:solidFill>
                <a:latin typeface="Helvetica"/>
                <a:ea typeface="Helvetica"/>
                <a:cs typeface="Helvetica"/>
              </a:defRPr>
            </a:pPr>
            <a:r>
              <a:rPr sz="1050" b="0">
                <a:solidFill>
                  <a:srgbClr val="8C908B"/>
                </a:solidFill>
                <a:latin typeface="Helvetica"/>
                <a:ea typeface="Helvetica"/>
                <a:cs typeface="Helvetica"/>
              </a:rPr>
              <a:t>05</a:t>
            </a:r>
          </a:p>
        </p:txBody>
      </p:sp>
      <p:sp>
        <p:nvSpPr>
          <p:cNvPr id="3" name="s5-rule-2">
            <a:extLst xmlns:a="http://schemas.openxmlformats.org/drawingml/2006/main">
              <a:ext uri="{FF2B5EF4-FFF2-40B4-BE49-F238E27FC236}">
                <a16:creationId xmlns:a16="http://schemas.microsoft.com/office/drawing/2014/main" id="{6626E1F8-9054-452E-8884-FEC3014006BD}"/>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4" name="s5-text-3">
            <a:extLst xmlns:a="http://schemas.openxmlformats.org/drawingml/2006/main">
              <a:ext uri="{FF2B5EF4-FFF2-40B4-BE49-F238E27FC236}">
                <a16:creationId xmlns:a16="http://schemas.microsoft.com/office/drawing/2014/main" id="{87A7A845-EE62-4309-BB7D-BE42D65B9A1A}"/>
              </a:ext>
            </a:extLst>
          </p:cNvPr>
          <p:cNvSpPr>
            <a:spLocks xmlns:a="http://schemas.openxmlformats.org/drawingml/2006/main" noGrp="1"/>
          </p:cNvSpPr>
          <p:nvPr/>
        </p:nvSpPr>
        <p:spPr>
          <a:xfrm xmlns:a="http://schemas.openxmlformats.org/drawingml/2006/main">
            <a:off x="609600" y="10191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1">
                <a:solidFill>
                  <a:srgbClr val="F2EFE8"/>
                </a:solidFill>
                <a:latin typeface="Helvetica"/>
                <a:ea typeface="Helvetica"/>
                <a:cs typeface="Helvetica"/>
              </a:defRPr>
            </a:pPr>
            <a:r>
              <a:rPr sz="4050" b="1">
                <a:solidFill>
                  <a:srgbClr val="F2EFE8"/>
                </a:solidFill>
                <a:latin typeface="Helvetica"/>
                <a:ea typeface="Helvetica"/>
                <a:cs typeface="Helvetica"/>
              </a:rPr>
              <a:t>One ticker. A clearer decision.</a:t>
            </a:r>
          </a:p>
        </p:txBody>
      </p:sp>
      <p:sp>
        <p:nvSpPr>
          <p:cNvPr id="5" name="s5-text-4">
            <a:extLst xmlns:a="http://schemas.openxmlformats.org/drawingml/2006/main">
              <a:ext uri="{FF2B5EF4-FFF2-40B4-BE49-F238E27FC236}">
                <a16:creationId xmlns:a16="http://schemas.microsoft.com/office/drawing/2014/main" id="{08DB16F5-A47E-4F95-9D54-04A975B65F60}"/>
              </a:ext>
            </a:extLst>
          </p:cNvPr>
          <p:cNvSpPr>
            <a:spLocks xmlns:a="http://schemas.openxmlformats.org/drawingml/2006/main" noGrp="1"/>
          </p:cNvSpPr>
          <p:nvPr/>
        </p:nvSpPr>
        <p:spPr>
          <a:xfrm xmlns:a="http://schemas.openxmlformats.org/drawingml/2006/main">
            <a:off x="609600" y="24288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01</a:t>
            </a:r>
          </a:p>
        </p:txBody>
      </p:sp>
      <p:sp>
        <p:nvSpPr>
          <p:cNvPr id="6" name="s5-text-5">
            <a:extLst xmlns:a="http://schemas.openxmlformats.org/drawingml/2006/main">
              <a:ext uri="{FF2B5EF4-FFF2-40B4-BE49-F238E27FC236}">
                <a16:creationId xmlns:a16="http://schemas.microsoft.com/office/drawing/2014/main" id="{8DA96F0C-BDE3-4F1E-9E4E-89EA0F58B752}"/>
              </a:ext>
            </a:extLst>
          </p:cNvPr>
          <p:cNvSpPr>
            <a:spLocks xmlns:a="http://schemas.openxmlformats.org/drawingml/2006/main" noGrp="1"/>
          </p:cNvSpPr>
          <p:nvPr/>
        </p:nvSpPr>
        <p:spPr>
          <a:xfrm xmlns:a="http://schemas.openxmlformats.org/drawingml/2006/main">
            <a:off x="1371600" y="23622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2EFE8"/>
                </a:solidFill>
                <a:latin typeface="Helvetica"/>
                <a:ea typeface="Helvetica"/>
                <a:cs typeface="Helvetica"/>
              </a:defRPr>
            </a:pPr>
            <a:r>
              <a:rPr sz="1350" b="1">
                <a:solidFill>
                  <a:srgbClr val="F2EFE8"/>
                </a:solidFill>
                <a:latin typeface="Helvetica"/>
                <a:ea typeface="Helvetica"/>
                <a:cs typeface="Helvetica"/>
              </a:rPr>
              <a:t>WHAT IS IT WORTH?</a:t>
            </a:r>
          </a:p>
        </p:txBody>
      </p:sp>
      <p:sp>
        <p:nvSpPr>
          <p:cNvPr id="7" name="s5-text-6">
            <a:extLst xmlns:a="http://schemas.openxmlformats.org/drawingml/2006/main">
              <a:ext uri="{FF2B5EF4-FFF2-40B4-BE49-F238E27FC236}">
                <a16:creationId xmlns:a16="http://schemas.microsoft.com/office/drawing/2014/main" id="{65B2BA92-06FF-45CF-942D-36D9A801AC33}"/>
              </a:ext>
            </a:extLst>
          </p:cNvPr>
          <p:cNvSpPr>
            <a:spLocks xmlns:a="http://schemas.openxmlformats.org/drawingml/2006/main" noGrp="1"/>
          </p:cNvSpPr>
          <p:nvPr/>
        </p:nvSpPr>
        <p:spPr>
          <a:xfrm xmlns:a="http://schemas.openxmlformats.org/drawingml/2006/main">
            <a:off x="5219700" y="2362200"/>
            <a:ext cx="636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One intrinsic value estimate, with a range</a:t>
            </a:r>
          </a:p>
        </p:txBody>
      </p:sp>
      <p:sp>
        <p:nvSpPr>
          <p:cNvPr id="8" name="s5-text-7">
            <a:extLst xmlns:a="http://schemas.openxmlformats.org/drawingml/2006/main">
              <a:ext uri="{FF2B5EF4-FFF2-40B4-BE49-F238E27FC236}">
                <a16:creationId xmlns:a16="http://schemas.microsoft.com/office/drawing/2014/main" id="{7DE18307-F480-4ABB-9416-F0886DA48A1A}"/>
              </a:ext>
            </a:extLst>
          </p:cNvPr>
          <p:cNvSpPr>
            <a:spLocks xmlns:a="http://schemas.openxmlformats.org/drawingml/2006/main" noGrp="1"/>
          </p:cNvSpPr>
          <p:nvPr/>
        </p:nvSpPr>
        <p:spPr>
          <a:xfrm xmlns:a="http://schemas.openxmlformats.org/drawingml/2006/main">
            <a:off x="5219700" y="2676525"/>
            <a:ext cx="636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showing sensitivity to assumptions.</a:t>
            </a:r>
          </a:p>
        </p:txBody>
      </p:sp>
      <p:sp>
        <p:nvSpPr>
          <p:cNvPr id="9" name="s5-rule-8">
            <a:extLst xmlns:a="http://schemas.openxmlformats.org/drawingml/2006/main">
              <a:ext uri="{FF2B5EF4-FFF2-40B4-BE49-F238E27FC236}">
                <a16:creationId xmlns:a16="http://schemas.microsoft.com/office/drawing/2014/main" id="{E21012E2-6C2B-4FF1-BFED-90C473E8E4B8}"/>
              </a:ext>
            </a:extLst>
          </p:cNvPr>
          <p:cNvSpPr>
            <a:spLocks xmlns:a="http://schemas.openxmlformats.org/drawingml/2006/main" noGrp="1"/>
          </p:cNvSpPr>
          <p:nvPr/>
        </p:nvSpPr>
        <p:spPr>
          <a:xfrm xmlns:a="http://schemas.openxmlformats.org/drawingml/2006/main">
            <a:off x="609600" y="321945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10" name="s5-text-9">
            <a:extLst xmlns:a="http://schemas.openxmlformats.org/drawingml/2006/main">
              <a:ext uri="{FF2B5EF4-FFF2-40B4-BE49-F238E27FC236}">
                <a16:creationId xmlns:a16="http://schemas.microsoft.com/office/drawing/2014/main" id="{7D88943B-082E-47A6-845F-1A1E1858F4FE}"/>
              </a:ext>
            </a:extLst>
          </p:cNvPr>
          <p:cNvSpPr>
            <a:spLocks xmlns:a="http://schemas.openxmlformats.org/drawingml/2006/main" noGrp="1"/>
          </p:cNvSpPr>
          <p:nvPr/>
        </p:nvSpPr>
        <p:spPr>
          <a:xfrm xmlns:a="http://schemas.openxmlformats.org/drawingml/2006/main">
            <a:off x="609600" y="3629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02</a:t>
            </a:r>
          </a:p>
        </p:txBody>
      </p:sp>
      <p:sp>
        <p:nvSpPr>
          <p:cNvPr id="11" name="s5-text-10">
            <a:extLst xmlns:a="http://schemas.openxmlformats.org/drawingml/2006/main">
              <a:ext uri="{FF2B5EF4-FFF2-40B4-BE49-F238E27FC236}">
                <a16:creationId xmlns:a16="http://schemas.microsoft.com/office/drawing/2014/main" id="{12BF3DEA-91E8-4B06-9DED-DFAFD5B63746}"/>
              </a:ext>
            </a:extLst>
          </p:cNvPr>
          <p:cNvSpPr>
            <a:spLocks xmlns:a="http://schemas.openxmlformats.org/drawingml/2006/main" noGrp="1"/>
          </p:cNvSpPr>
          <p:nvPr/>
        </p:nvSpPr>
        <p:spPr>
          <a:xfrm xmlns:a="http://schemas.openxmlformats.org/drawingml/2006/main">
            <a:off x="1371600" y="35623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2EFE8"/>
                </a:solidFill>
                <a:latin typeface="Helvetica"/>
                <a:ea typeface="Helvetica"/>
                <a:cs typeface="Helvetica"/>
              </a:defRPr>
            </a:pPr>
            <a:r>
              <a:rPr sz="1350" b="1">
                <a:solidFill>
                  <a:srgbClr val="F2EFE8"/>
                </a:solidFill>
                <a:latin typeface="Helvetica"/>
                <a:ea typeface="Helvetica"/>
                <a:cs typeface="Helvetica"/>
              </a:rPr>
              <a:t>WHY THIS NUMBER?</a:t>
            </a:r>
          </a:p>
        </p:txBody>
      </p:sp>
      <p:sp>
        <p:nvSpPr>
          <p:cNvPr id="12" name="s5-text-11">
            <a:extLst xmlns:a="http://schemas.openxmlformats.org/drawingml/2006/main">
              <a:ext uri="{FF2B5EF4-FFF2-40B4-BE49-F238E27FC236}">
                <a16:creationId xmlns:a16="http://schemas.microsoft.com/office/drawing/2014/main" id="{2B59300F-5FC9-4D2B-9BDB-038A8B322BC2}"/>
              </a:ext>
            </a:extLst>
          </p:cNvPr>
          <p:cNvSpPr>
            <a:spLocks xmlns:a="http://schemas.openxmlformats.org/drawingml/2006/main" noGrp="1"/>
          </p:cNvSpPr>
          <p:nvPr/>
        </p:nvSpPr>
        <p:spPr>
          <a:xfrm xmlns:a="http://schemas.openxmlformats.org/drawingml/2006/main">
            <a:off x="5219700" y="3562350"/>
            <a:ext cx="636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2EFE8"/>
                </a:solidFill>
                <a:latin typeface="Helvetica"/>
                <a:ea typeface="Helvetica"/>
                <a:cs typeface="Helvetica"/>
              </a:defRPr>
            </a:pPr>
            <a:r>
              <a:rPr sz="1725" b="0">
                <a:solidFill>
                  <a:srgbClr val="F2EFE8"/>
                </a:solidFill>
                <a:latin typeface="Helvetica"/>
                <a:ea typeface="Helvetica"/>
                <a:cs typeface="Helvetica"/>
              </a:rPr>
              <a:t>Growth, risk, cash flow, and filing sources</a:t>
            </a:r>
          </a:p>
        </p:txBody>
      </p:sp>
      <p:sp>
        <p:nvSpPr>
          <p:cNvPr id="13" name="s5-text-12">
            <a:extLst xmlns:a="http://schemas.openxmlformats.org/drawingml/2006/main">
              <a:ext uri="{FF2B5EF4-FFF2-40B4-BE49-F238E27FC236}">
                <a16:creationId xmlns:a16="http://schemas.microsoft.com/office/drawing/2014/main" id="{66C55BC6-E483-444F-B6D4-2E43DB675183}"/>
              </a:ext>
            </a:extLst>
          </p:cNvPr>
          <p:cNvSpPr>
            <a:spLocks xmlns:a="http://schemas.openxmlformats.org/drawingml/2006/main" noGrp="1"/>
          </p:cNvSpPr>
          <p:nvPr/>
        </p:nvSpPr>
        <p:spPr>
          <a:xfrm xmlns:a="http://schemas.openxmlformats.org/drawingml/2006/main">
            <a:off x="5219700" y="3876675"/>
            <a:ext cx="636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2EFE8"/>
                </a:solidFill>
                <a:latin typeface="Helvetica"/>
                <a:ea typeface="Helvetica"/>
                <a:cs typeface="Helvetica"/>
              </a:defRPr>
            </a:pPr>
            <a:r>
              <a:rPr sz="1725" b="0">
                <a:solidFill>
                  <a:srgbClr val="F2EFE8"/>
                </a:solidFill>
                <a:latin typeface="Helvetica"/>
                <a:ea typeface="Helvetica"/>
                <a:cs typeface="Helvetica"/>
              </a:rPr>
              <a:t>stay visible alongside the result.</a:t>
            </a:r>
          </a:p>
        </p:txBody>
      </p:sp>
      <p:sp>
        <p:nvSpPr>
          <p:cNvPr id="14" name="s5-rule-13">
            <a:extLst xmlns:a="http://schemas.openxmlformats.org/drawingml/2006/main">
              <a:ext uri="{FF2B5EF4-FFF2-40B4-BE49-F238E27FC236}">
                <a16:creationId xmlns:a16="http://schemas.microsoft.com/office/drawing/2014/main" id="{CFAD4636-1E5B-40BA-BCD7-3DC11544E976}"/>
              </a:ext>
            </a:extLst>
          </p:cNvPr>
          <p:cNvSpPr>
            <a:spLocks xmlns:a="http://schemas.openxmlformats.org/drawingml/2006/main" noGrp="1"/>
          </p:cNvSpPr>
          <p:nvPr/>
        </p:nvSpPr>
        <p:spPr>
          <a:xfrm xmlns:a="http://schemas.openxmlformats.org/drawingml/2006/main">
            <a:off x="609600" y="44196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15" name="s5-text-14">
            <a:extLst xmlns:a="http://schemas.openxmlformats.org/drawingml/2006/main">
              <a:ext uri="{FF2B5EF4-FFF2-40B4-BE49-F238E27FC236}">
                <a16:creationId xmlns:a16="http://schemas.microsoft.com/office/drawing/2014/main" id="{DA77392C-712C-49AA-BBA7-A2E28638B3AC}"/>
              </a:ext>
            </a:extLst>
          </p:cNvPr>
          <p:cNvSpPr>
            <a:spLocks xmlns:a="http://schemas.openxmlformats.org/drawingml/2006/main" noGrp="1"/>
          </p:cNvSpPr>
          <p:nvPr/>
        </p:nvSpPr>
        <p:spPr>
          <a:xfrm xmlns:a="http://schemas.openxmlformats.org/drawingml/2006/main">
            <a:off x="609600" y="4829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03</a:t>
            </a:r>
          </a:p>
        </p:txBody>
      </p:sp>
      <p:sp>
        <p:nvSpPr>
          <p:cNvPr id="16" name="s5-text-15">
            <a:extLst xmlns:a="http://schemas.openxmlformats.org/drawingml/2006/main">
              <a:ext uri="{FF2B5EF4-FFF2-40B4-BE49-F238E27FC236}">
                <a16:creationId xmlns:a16="http://schemas.microsoft.com/office/drawing/2014/main" id="{7B9BDBA9-15E2-4A93-B999-E9BBFBA389C4}"/>
              </a:ext>
            </a:extLst>
          </p:cNvPr>
          <p:cNvSpPr>
            <a:spLocks xmlns:a="http://schemas.openxmlformats.org/drawingml/2006/main" noGrp="1"/>
          </p:cNvSpPr>
          <p:nvPr/>
        </p:nvSpPr>
        <p:spPr>
          <a:xfrm xmlns:a="http://schemas.openxmlformats.org/drawingml/2006/main">
            <a:off x="1371600" y="47625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2EFE8"/>
                </a:solidFill>
                <a:latin typeface="Helvetica"/>
                <a:ea typeface="Helvetica"/>
                <a:cs typeface="Helvetica"/>
              </a:defRPr>
            </a:pPr>
            <a:r>
              <a:rPr sz="1350" b="1">
                <a:solidFill>
                  <a:srgbClr val="F2EFE8"/>
                </a:solidFill>
                <a:latin typeface="Helvetica"/>
                <a:ea typeface="Helvetica"/>
                <a:cs typeface="Helvetica"/>
              </a:rPr>
              <a:t>WHAT NEEDS CAUTION?</a:t>
            </a:r>
          </a:p>
        </p:txBody>
      </p:sp>
      <p:sp>
        <p:nvSpPr>
          <p:cNvPr id="17" name="s5-text-16">
            <a:extLst xmlns:a="http://schemas.openxmlformats.org/drawingml/2006/main">
              <a:ext uri="{FF2B5EF4-FFF2-40B4-BE49-F238E27FC236}">
                <a16:creationId xmlns:a16="http://schemas.microsoft.com/office/drawing/2014/main" id="{4EFEEFAE-6726-44A6-B63B-86F771E9A130}"/>
              </a:ext>
            </a:extLst>
          </p:cNvPr>
          <p:cNvSpPr>
            <a:spLocks xmlns:a="http://schemas.openxmlformats.org/drawingml/2006/main" noGrp="1"/>
          </p:cNvSpPr>
          <p:nvPr/>
        </p:nvSpPr>
        <p:spPr>
          <a:xfrm xmlns:a="http://schemas.openxmlformats.org/drawingml/2006/main">
            <a:off x="5219700" y="4762500"/>
            <a:ext cx="636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A sector-aware ten-point checklist shows</a:t>
            </a:r>
          </a:p>
        </p:txBody>
      </p:sp>
      <p:sp>
        <p:nvSpPr>
          <p:cNvPr id="18" name="s5-text-17">
            <a:extLst xmlns:a="http://schemas.openxmlformats.org/drawingml/2006/main">
              <a:ext uri="{FF2B5EF4-FFF2-40B4-BE49-F238E27FC236}">
                <a16:creationId xmlns:a16="http://schemas.microsoft.com/office/drawing/2014/main" id="{3E587DCA-B5F1-42E9-B92F-2B825339149B}"/>
              </a:ext>
            </a:extLst>
          </p:cNvPr>
          <p:cNvSpPr>
            <a:spLocks xmlns:a="http://schemas.openxmlformats.org/drawingml/2006/main" noGrp="1"/>
          </p:cNvSpPr>
          <p:nvPr/>
        </p:nvSpPr>
        <p:spPr>
          <a:xfrm xmlns:a="http://schemas.openxmlformats.org/drawingml/2006/main">
            <a:off x="5219700" y="5076825"/>
            <a:ext cx="636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support, weak evidence, and missing data.</a:t>
            </a:r>
          </a:p>
        </p:txBody>
      </p:sp>
      <p:sp>
        <p:nvSpPr>
          <p:cNvPr id="19" name="s5-text-18">
            <a:extLst xmlns:a="http://schemas.openxmlformats.org/drawingml/2006/main">
              <a:ext uri="{FF2B5EF4-FFF2-40B4-BE49-F238E27FC236}">
                <a16:creationId xmlns:a16="http://schemas.microsoft.com/office/drawing/2014/main" id="{C536CE66-390E-4313-8C4E-CACBCD2EEE9B}"/>
              </a:ext>
            </a:extLst>
          </p:cNvPr>
          <p:cNvSpPr>
            <a:spLocks xmlns:a="http://schemas.openxmlformats.org/drawingml/2006/main" noGrp="1"/>
          </p:cNvSpPr>
          <p:nvPr/>
        </p:nvSpPr>
        <p:spPr>
          <a:xfrm xmlns:a="http://schemas.openxmlformats.org/drawingml/2006/main">
            <a:off x="609600" y="61150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C8FF3D"/>
                </a:solidFill>
                <a:latin typeface="Helvetica"/>
                <a:ea typeface="Helvetica"/>
                <a:cs typeface="Helvetica"/>
              </a:defRPr>
            </a:pPr>
            <a:r>
              <a:rPr sz="1500" b="0">
                <a:solidFill>
                  <a:srgbClr val="C8FF3D"/>
                </a:solidFill>
                <a:latin typeface="Helvetica"/>
                <a:ea typeface="Helvetica"/>
                <a:cs typeface="Helvetica"/>
              </a:rPr>
              <a:t>Confidence describes evidence and model robustness, not the chance of a return.</a:t>
            </a:r>
          </a:p>
        </p:txBody>
      </p:sp>
    </p:spTree>
    <p:extLst>
      <p:ext uri="{BB962C8B-B14F-4D97-AF65-F5344CB8AC3E}">
        <p14:creationId xmlns:p14="http://schemas.microsoft.com/office/powerpoint/2010/main" val="541244015"/>
      </p:ext>
    </p:extLst>
  </p:cSld>
</p:sld>
</file>

<file path=ppt/slides/slide6.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21" name="s6-text-0">
            <a:extLst xmlns:a="http://schemas.openxmlformats.org/drawingml/2006/main">
              <a:ext uri="{FF2B5EF4-FFF2-40B4-BE49-F238E27FC236}">
                <a16:creationId xmlns:a16="http://schemas.microsoft.com/office/drawing/2014/main" id="{940CCABB-AC10-4D72-BD57-6E189A7CDBA6}"/>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AI SAFEGUARDS</a:t>
            </a:r>
          </a:p>
        </p:txBody>
      </p:sp>
      <p:sp>
        <p:nvSpPr>
          <p:cNvPr id="2" name="s6-text-1">
            <a:extLst xmlns:a="http://schemas.openxmlformats.org/drawingml/2006/main">
              <a:ext uri="{FF2B5EF4-FFF2-40B4-BE49-F238E27FC236}">
                <a16:creationId xmlns:a16="http://schemas.microsoft.com/office/drawing/2014/main" id="{923B782F-A4A0-450F-8D46-F310613425B9}"/>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8C908B"/>
                </a:solidFill>
                <a:latin typeface="Helvetica"/>
                <a:ea typeface="Helvetica"/>
                <a:cs typeface="Helvetica"/>
              </a:defRPr>
            </a:pPr>
            <a:r>
              <a:rPr sz="1050" b="0">
                <a:solidFill>
                  <a:srgbClr val="8C908B"/>
                </a:solidFill>
                <a:latin typeface="Helvetica"/>
                <a:ea typeface="Helvetica"/>
                <a:cs typeface="Helvetica"/>
              </a:rPr>
              <a:t>06</a:t>
            </a:r>
          </a:p>
        </p:txBody>
      </p:sp>
      <p:sp>
        <p:nvSpPr>
          <p:cNvPr id="3" name="s6-rule-2">
            <a:extLst xmlns:a="http://schemas.openxmlformats.org/drawingml/2006/main">
              <a:ext uri="{FF2B5EF4-FFF2-40B4-BE49-F238E27FC236}">
                <a16:creationId xmlns:a16="http://schemas.microsoft.com/office/drawing/2014/main" id="{8C3C88DE-04F4-40CD-9D40-BF012591E8A0}"/>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4" name="s6-text-3">
            <a:extLst xmlns:a="http://schemas.openxmlformats.org/drawingml/2006/main">
              <a:ext uri="{FF2B5EF4-FFF2-40B4-BE49-F238E27FC236}">
                <a16:creationId xmlns:a16="http://schemas.microsoft.com/office/drawing/2014/main" id="{E17902A4-F8BB-4E25-9662-6AB88B423EED}"/>
              </a:ext>
            </a:extLst>
          </p:cNvPr>
          <p:cNvSpPr>
            <a:spLocks xmlns:a="http://schemas.openxmlformats.org/drawingml/2006/main" noGrp="1"/>
          </p:cNvSpPr>
          <p:nvPr/>
        </p:nvSpPr>
        <p:spPr>
          <a:xfrm xmlns:a="http://schemas.openxmlformats.org/drawingml/2006/main">
            <a:off x="609600" y="10191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1">
                <a:solidFill>
                  <a:srgbClr val="F2EFE8"/>
                </a:solidFill>
                <a:latin typeface="Helvetica"/>
                <a:ea typeface="Helvetica"/>
                <a:cs typeface="Helvetica"/>
              </a:defRPr>
            </a:pPr>
            <a:r>
              <a:rPr sz="4050" b="1">
                <a:solidFill>
                  <a:srgbClr val="F2EFE8"/>
                </a:solidFill>
                <a:latin typeface="Helvetica"/>
                <a:ea typeface="Helvetica"/>
                <a:cs typeface="Helvetica"/>
              </a:rPr>
              <a:t>AI can adjust. It cannot improvise.</a:t>
            </a:r>
          </a:p>
        </p:txBody>
      </p:sp>
      <p:sp>
        <p:nvSpPr>
          <p:cNvPr id="5" name="s6-rule-4">
            <a:extLst xmlns:a="http://schemas.openxmlformats.org/drawingml/2006/main">
              <a:ext uri="{FF2B5EF4-FFF2-40B4-BE49-F238E27FC236}">
                <a16:creationId xmlns:a16="http://schemas.microsoft.com/office/drawing/2014/main" id="{B15FF805-77A4-48E4-A651-11F709774731}"/>
              </a:ext>
            </a:extLst>
          </p:cNvPr>
          <p:cNvSpPr>
            <a:spLocks xmlns:a="http://schemas.openxmlformats.org/drawingml/2006/main" noGrp="1"/>
          </p:cNvSpPr>
          <p:nvPr/>
        </p:nvSpPr>
        <p:spPr>
          <a:xfrm xmlns:a="http://schemas.openxmlformats.org/drawingml/2006/main">
            <a:off x="3752850" y="2314575"/>
            <a:ext cx="9525" cy="212407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6" name="s6-rule-5">
            <a:extLst xmlns:a="http://schemas.openxmlformats.org/drawingml/2006/main">
              <a:ext uri="{FF2B5EF4-FFF2-40B4-BE49-F238E27FC236}">
                <a16:creationId xmlns:a16="http://schemas.microsoft.com/office/drawing/2014/main" id="{1EA9A271-E09C-4ACE-A527-6F12D7673D3E}"/>
              </a:ext>
            </a:extLst>
          </p:cNvPr>
          <p:cNvSpPr>
            <a:spLocks xmlns:a="http://schemas.openxmlformats.org/drawingml/2006/main" noGrp="1"/>
          </p:cNvSpPr>
          <p:nvPr/>
        </p:nvSpPr>
        <p:spPr>
          <a:xfrm xmlns:a="http://schemas.openxmlformats.org/drawingml/2006/main">
            <a:off x="7410450" y="2314575"/>
            <a:ext cx="9525" cy="212407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7" name="s6-text-6">
            <a:extLst xmlns:a="http://schemas.openxmlformats.org/drawingml/2006/main">
              <a:ext uri="{FF2B5EF4-FFF2-40B4-BE49-F238E27FC236}">
                <a16:creationId xmlns:a16="http://schemas.microsoft.com/office/drawing/2014/main" id="{2028B2A2-4671-4CC2-8DB3-7B8C75E74189}"/>
              </a:ext>
            </a:extLst>
          </p:cNvPr>
          <p:cNvSpPr>
            <a:spLocks xmlns:a="http://schemas.openxmlformats.org/drawingml/2006/main" noGrp="1"/>
          </p:cNvSpPr>
          <p:nvPr/>
        </p:nvSpPr>
        <p:spPr>
          <a:xfrm xmlns:a="http://schemas.openxmlformats.org/drawingml/2006/main">
            <a:off x="609600" y="2428875"/>
            <a:ext cx="312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STAGE-ONE GROWTH</a:t>
            </a:r>
          </a:p>
        </p:txBody>
      </p:sp>
      <p:sp>
        <p:nvSpPr>
          <p:cNvPr id="8" name="s6-text-7">
            <a:extLst xmlns:a="http://schemas.openxmlformats.org/drawingml/2006/main">
              <a:ext uri="{FF2B5EF4-FFF2-40B4-BE49-F238E27FC236}">
                <a16:creationId xmlns:a16="http://schemas.microsoft.com/office/drawing/2014/main" id="{3EA807F9-AF5D-445E-9784-5CAAF1C98EC9}"/>
              </a:ext>
            </a:extLst>
          </p:cNvPr>
          <p:cNvSpPr>
            <a:spLocks xmlns:a="http://schemas.openxmlformats.org/drawingml/2006/main" noGrp="1"/>
          </p:cNvSpPr>
          <p:nvPr/>
        </p:nvSpPr>
        <p:spPr>
          <a:xfrm xmlns:a="http://schemas.openxmlformats.org/drawingml/2006/main">
            <a:off x="609600" y="2952750"/>
            <a:ext cx="314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850" b="1">
                <a:solidFill>
                  <a:srgbClr val="F2EFE8"/>
                </a:solidFill>
                <a:latin typeface="Helvetica"/>
                <a:ea typeface="Helvetica"/>
                <a:cs typeface="Helvetica"/>
              </a:defRPr>
            </a:pPr>
            <a:r>
              <a:rPr sz="5850" b="1">
                <a:solidFill>
                  <a:srgbClr val="F2EFE8"/>
                </a:solidFill>
                <a:latin typeface="Helvetica"/>
                <a:ea typeface="Helvetica"/>
                <a:cs typeface="Helvetica"/>
              </a:rPr>
              <a:t>±3</a:t>
            </a:r>
          </a:p>
        </p:txBody>
      </p:sp>
      <p:sp>
        <p:nvSpPr>
          <p:cNvPr id="9" name="s6-text-8">
            <a:extLst xmlns:a="http://schemas.openxmlformats.org/drawingml/2006/main">
              <a:ext uri="{FF2B5EF4-FFF2-40B4-BE49-F238E27FC236}">
                <a16:creationId xmlns:a16="http://schemas.microsoft.com/office/drawing/2014/main" id="{83B409E5-37E9-41A7-87F0-6DEFB44BA5FD}"/>
              </a:ext>
            </a:extLst>
          </p:cNvPr>
          <p:cNvSpPr>
            <a:spLocks xmlns:a="http://schemas.openxmlformats.org/drawingml/2006/main" noGrp="1"/>
          </p:cNvSpPr>
          <p:nvPr/>
        </p:nvSpPr>
        <p:spPr>
          <a:xfrm xmlns:a="http://schemas.openxmlformats.org/drawingml/2006/main">
            <a:off x="609600" y="4010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2EFE8"/>
                </a:solidFill>
                <a:latin typeface="Helvetica"/>
                <a:ea typeface="Helvetica"/>
                <a:cs typeface="Helvetica"/>
              </a:defRPr>
            </a:pPr>
            <a:r>
              <a:rPr sz="1650" b="0">
                <a:solidFill>
                  <a:srgbClr val="F2EFE8"/>
                </a:solidFill>
                <a:latin typeface="Helvetica"/>
                <a:ea typeface="Helvetica"/>
                <a:cs typeface="Helvetica"/>
              </a:rPr>
              <a:t>percentage points</a:t>
            </a:r>
          </a:p>
        </p:txBody>
      </p:sp>
      <p:sp>
        <p:nvSpPr>
          <p:cNvPr id="10" name="s6-text-9">
            <a:extLst xmlns:a="http://schemas.openxmlformats.org/drawingml/2006/main">
              <a:ext uri="{FF2B5EF4-FFF2-40B4-BE49-F238E27FC236}">
                <a16:creationId xmlns:a16="http://schemas.microsoft.com/office/drawing/2014/main" id="{B9A52D20-F1E3-4BBB-98B2-8EC090F34C01}"/>
              </a:ext>
            </a:extLst>
          </p:cNvPr>
          <p:cNvSpPr>
            <a:spLocks xmlns:a="http://schemas.openxmlformats.org/drawingml/2006/main" noGrp="1"/>
          </p:cNvSpPr>
          <p:nvPr/>
        </p:nvSpPr>
        <p:spPr>
          <a:xfrm xmlns:a="http://schemas.openxmlformats.org/drawingml/2006/main">
            <a:off x="4267200" y="2428875"/>
            <a:ext cx="312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STAGE-TWO GROWTH</a:t>
            </a:r>
          </a:p>
        </p:txBody>
      </p:sp>
      <p:sp>
        <p:nvSpPr>
          <p:cNvPr id="11" name="s6-text-10">
            <a:extLst xmlns:a="http://schemas.openxmlformats.org/drawingml/2006/main">
              <a:ext uri="{FF2B5EF4-FFF2-40B4-BE49-F238E27FC236}">
                <a16:creationId xmlns:a16="http://schemas.microsoft.com/office/drawing/2014/main" id="{38DEE594-E92B-4569-8445-161EC87789A8}"/>
              </a:ext>
            </a:extLst>
          </p:cNvPr>
          <p:cNvSpPr>
            <a:spLocks xmlns:a="http://schemas.openxmlformats.org/drawingml/2006/main" noGrp="1"/>
          </p:cNvSpPr>
          <p:nvPr/>
        </p:nvSpPr>
        <p:spPr>
          <a:xfrm xmlns:a="http://schemas.openxmlformats.org/drawingml/2006/main">
            <a:off x="4267200" y="2952750"/>
            <a:ext cx="314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850" b="1">
                <a:solidFill>
                  <a:srgbClr val="F2EFE8"/>
                </a:solidFill>
                <a:latin typeface="Helvetica"/>
                <a:ea typeface="Helvetica"/>
                <a:cs typeface="Helvetica"/>
              </a:defRPr>
            </a:pPr>
            <a:r>
              <a:rPr sz="5850" b="1">
                <a:solidFill>
                  <a:srgbClr val="F2EFE8"/>
                </a:solidFill>
                <a:latin typeface="Helvetica"/>
                <a:ea typeface="Helvetica"/>
                <a:cs typeface="Helvetica"/>
              </a:rPr>
              <a:t>±2</a:t>
            </a:r>
          </a:p>
        </p:txBody>
      </p:sp>
      <p:sp>
        <p:nvSpPr>
          <p:cNvPr id="12" name="s6-text-11">
            <a:extLst xmlns:a="http://schemas.openxmlformats.org/drawingml/2006/main">
              <a:ext uri="{FF2B5EF4-FFF2-40B4-BE49-F238E27FC236}">
                <a16:creationId xmlns:a16="http://schemas.microsoft.com/office/drawing/2014/main" id="{59FA9B9C-ECE1-4CF0-9D91-0ADD5C814E70}"/>
              </a:ext>
            </a:extLst>
          </p:cNvPr>
          <p:cNvSpPr>
            <a:spLocks xmlns:a="http://schemas.openxmlformats.org/drawingml/2006/main" noGrp="1"/>
          </p:cNvSpPr>
          <p:nvPr/>
        </p:nvSpPr>
        <p:spPr>
          <a:xfrm xmlns:a="http://schemas.openxmlformats.org/drawingml/2006/main">
            <a:off x="4267200" y="4010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2EFE8"/>
                </a:solidFill>
                <a:latin typeface="Helvetica"/>
                <a:ea typeface="Helvetica"/>
                <a:cs typeface="Helvetica"/>
              </a:defRPr>
            </a:pPr>
            <a:r>
              <a:rPr sz="1650" b="0">
                <a:solidFill>
                  <a:srgbClr val="F2EFE8"/>
                </a:solidFill>
                <a:latin typeface="Helvetica"/>
                <a:ea typeface="Helvetica"/>
                <a:cs typeface="Helvetica"/>
              </a:rPr>
              <a:t>percentage points</a:t>
            </a:r>
          </a:p>
        </p:txBody>
      </p:sp>
      <p:sp>
        <p:nvSpPr>
          <p:cNvPr id="13" name="s6-text-12">
            <a:extLst xmlns:a="http://schemas.openxmlformats.org/drawingml/2006/main">
              <a:ext uri="{FF2B5EF4-FFF2-40B4-BE49-F238E27FC236}">
                <a16:creationId xmlns:a16="http://schemas.microsoft.com/office/drawing/2014/main" id="{95185B3F-51F2-4403-AC45-9DEBE3FA722B}"/>
              </a:ext>
            </a:extLst>
          </p:cNvPr>
          <p:cNvSpPr>
            <a:spLocks xmlns:a="http://schemas.openxmlformats.org/drawingml/2006/main" noGrp="1"/>
          </p:cNvSpPr>
          <p:nvPr/>
        </p:nvSpPr>
        <p:spPr>
          <a:xfrm xmlns:a="http://schemas.openxmlformats.org/drawingml/2006/main">
            <a:off x="7924800" y="2428875"/>
            <a:ext cx="312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DISCOUNT RATE</a:t>
            </a:r>
          </a:p>
        </p:txBody>
      </p:sp>
      <p:sp>
        <p:nvSpPr>
          <p:cNvPr id="14" name="s6-text-13">
            <a:extLst xmlns:a="http://schemas.openxmlformats.org/drawingml/2006/main">
              <a:ext uri="{FF2B5EF4-FFF2-40B4-BE49-F238E27FC236}">
                <a16:creationId xmlns:a16="http://schemas.microsoft.com/office/drawing/2014/main" id="{BFE805A3-B1B0-4D05-A02F-8C575F4DBB5D}"/>
              </a:ext>
            </a:extLst>
          </p:cNvPr>
          <p:cNvSpPr>
            <a:spLocks xmlns:a="http://schemas.openxmlformats.org/drawingml/2006/main" noGrp="1"/>
          </p:cNvSpPr>
          <p:nvPr/>
        </p:nvSpPr>
        <p:spPr>
          <a:xfrm xmlns:a="http://schemas.openxmlformats.org/drawingml/2006/main">
            <a:off x="7924800" y="2952750"/>
            <a:ext cx="314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850" b="1">
                <a:solidFill>
                  <a:srgbClr val="C8FF3D"/>
                </a:solidFill>
                <a:latin typeface="Helvetica"/>
                <a:ea typeface="Helvetica"/>
                <a:cs typeface="Helvetica"/>
              </a:defRPr>
            </a:pPr>
            <a:r>
              <a:rPr sz="5850" b="1">
                <a:solidFill>
                  <a:srgbClr val="C8FF3D"/>
                </a:solidFill>
                <a:latin typeface="Helvetica"/>
                <a:ea typeface="Helvetica"/>
                <a:cs typeface="Helvetica"/>
              </a:rPr>
              <a:t>±1.5</a:t>
            </a:r>
          </a:p>
        </p:txBody>
      </p:sp>
      <p:sp>
        <p:nvSpPr>
          <p:cNvPr id="15" name="s6-text-14">
            <a:extLst xmlns:a="http://schemas.openxmlformats.org/drawingml/2006/main">
              <a:ext uri="{FF2B5EF4-FFF2-40B4-BE49-F238E27FC236}">
                <a16:creationId xmlns:a16="http://schemas.microsoft.com/office/drawing/2014/main" id="{BD93F877-C3F7-4545-86C3-F470D98901B6}"/>
              </a:ext>
            </a:extLst>
          </p:cNvPr>
          <p:cNvSpPr>
            <a:spLocks xmlns:a="http://schemas.openxmlformats.org/drawingml/2006/main" noGrp="1"/>
          </p:cNvSpPr>
          <p:nvPr/>
        </p:nvSpPr>
        <p:spPr>
          <a:xfrm xmlns:a="http://schemas.openxmlformats.org/drawingml/2006/main">
            <a:off x="7924800" y="4010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2EFE8"/>
                </a:solidFill>
                <a:latin typeface="Helvetica"/>
                <a:ea typeface="Helvetica"/>
                <a:cs typeface="Helvetica"/>
              </a:defRPr>
            </a:pPr>
            <a:r>
              <a:rPr sz="1650" b="0">
                <a:solidFill>
                  <a:srgbClr val="F2EFE8"/>
                </a:solidFill>
                <a:latin typeface="Helvetica"/>
                <a:ea typeface="Helvetica"/>
                <a:cs typeface="Helvetica"/>
              </a:rPr>
              <a:t>percentage points</a:t>
            </a:r>
          </a:p>
        </p:txBody>
      </p:sp>
      <p:sp>
        <p:nvSpPr>
          <p:cNvPr id="16" name="s6-text-15">
            <a:extLst xmlns:a="http://schemas.openxmlformats.org/drawingml/2006/main">
              <a:ext uri="{FF2B5EF4-FFF2-40B4-BE49-F238E27FC236}">
                <a16:creationId xmlns:a16="http://schemas.microsoft.com/office/drawing/2014/main" id="{7CA5E4CE-55B9-4FA9-B9D2-A3389711B016}"/>
              </a:ext>
            </a:extLst>
          </p:cNvPr>
          <p:cNvSpPr>
            <a:spLocks xmlns:a="http://schemas.openxmlformats.org/drawingml/2006/main" noGrp="1"/>
          </p:cNvSpPr>
          <p:nvPr/>
        </p:nvSpPr>
        <p:spPr>
          <a:xfrm xmlns:a="http://schemas.openxmlformats.org/drawingml/2006/main">
            <a:off x="609600" y="47053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8C908B"/>
                </a:solidFill>
                <a:latin typeface="Helvetica"/>
                <a:ea typeface="Helvetica"/>
                <a:cs typeface="Helvetica"/>
              </a:defRPr>
            </a:pPr>
            <a:r>
              <a:rPr sz="1575" b="0">
                <a:solidFill>
                  <a:srgbClr val="8C908B"/>
                </a:solidFill>
                <a:latin typeface="Helvetica"/>
                <a:ea typeface="Helvetica"/>
                <a:cs typeface="Helvetica"/>
              </a:rPr>
              <a:t>Facts, shares, net debt, terminal growth, and formulas remain protected.</a:t>
            </a:r>
          </a:p>
        </p:txBody>
      </p:sp>
      <p:sp>
        <p:nvSpPr>
          <p:cNvPr id="17" name="s6-rule-16">
            <a:extLst xmlns:a="http://schemas.openxmlformats.org/drawingml/2006/main">
              <a:ext uri="{FF2B5EF4-FFF2-40B4-BE49-F238E27FC236}">
                <a16:creationId xmlns:a16="http://schemas.microsoft.com/office/drawing/2014/main" id="{FD201995-7C12-4392-B47C-8C68EE0FD38D}"/>
              </a:ext>
            </a:extLst>
          </p:cNvPr>
          <p:cNvSpPr>
            <a:spLocks xmlns:a="http://schemas.openxmlformats.org/drawingml/2006/main" noGrp="1"/>
          </p:cNvSpPr>
          <p:nvPr/>
        </p:nvSpPr>
        <p:spPr>
          <a:xfrm xmlns:a="http://schemas.openxmlformats.org/drawingml/2006/main">
            <a:off x="609600" y="5381625"/>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18" name="s6-text-17">
            <a:extLst xmlns:a="http://schemas.openxmlformats.org/drawingml/2006/main">
              <a:ext uri="{FF2B5EF4-FFF2-40B4-BE49-F238E27FC236}">
                <a16:creationId xmlns:a16="http://schemas.microsoft.com/office/drawing/2014/main" id="{122678B3-B054-4ED4-9D12-356AB47BB3DA}"/>
              </a:ext>
            </a:extLst>
          </p:cNvPr>
          <p:cNvSpPr>
            <a:spLocks xmlns:a="http://schemas.openxmlformats.org/drawingml/2006/main" noGrp="1"/>
          </p:cNvSpPr>
          <p:nvPr/>
        </p:nvSpPr>
        <p:spPr>
          <a:xfrm xmlns:a="http://schemas.openxmlformats.org/drawingml/2006/main">
            <a:off x="609600" y="5657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ENFORCED IN CODE</a:t>
            </a:r>
          </a:p>
        </p:txBody>
      </p:sp>
      <p:sp>
        <p:nvSpPr>
          <p:cNvPr id="19" name="s6-text-18">
            <a:extLst xmlns:a="http://schemas.openxmlformats.org/drawingml/2006/main">
              <a:ext uri="{FF2B5EF4-FFF2-40B4-BE49-F238E27FC236}">
                <a16:creationId xmlns:a16="http://schemas.microsoft.com/office/drawing/2014/main" id="{0F2828B8-B18F-4BD2-BA1C-1A8139FABC24}"/>
              </a:ext>
            </a:extLst>
          </p:cNvPr>
          <p:cNvSpPr>
            <a:spLocks xmlns:a="http://schemas.openxmlformats.org/drawingml/2006/main" noGrp="1"/>
          </p:cNvSpPr>
          <p:nvPr/>
        </p:nvSpPr>
        <p:spPr>
          <a:xfrm xmlns:a="http://schemas.openxmlformats.org/drawingml/2006/main">
            <a:off x="3048000" y="5591175"/>
            <a:ext cx="8534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2EFE8"/>
                </a:solidFill>
                <a:latin typeface="Helvetica"/>
                <a:ea typeface="Helvetica"/>
                <a:cs typeface="Helvetica"/>
              </a:defRPr>
            </a:pPr>
            <a:r>
              <a:rPr sz="1800" b="0">
                <a:solidFill>
                  <a:srgbClr val="F2EFE8"/>
                </a:solidFill>
                <a:latin typeface="Helvetica"/>
                <a:ea typeface="Helvetica"/>
                <a:cs typeface="Helvetica"/>
              </a:rPr>
              <a:t>Cited rationale. Validated bounds. Safe fallback.</a:t>
            </a:r>
          </a:p>
        </p:txBody>
      </p:sp>
      <p:sp>
        <p:nvSpPr>
          <p:cNvPr id="20" name="s6-text-19">
            <a:extLst xmlns:a="http://schemas.openxmlformats.org/drawingml/2006/main">
              <a:ext uri="{FF2B5EF4-FFF2-40B4-BE49-F238E27FC236}">
                <a16:creationId xmlns:a16="http://schemas.microsoft.com/office/drawing/2014/main" id="{9D153520-0289-403C-8A15-5F8805962D3E}"/>
              </a:ext>
            </a:extLst>
          </p:cNvPr>
          <p:cNvSpPr>
            <a:spLocks xmlns:a="http://schemas.openxmlformats.org/drawingml/2006/main" noGrp="1"/>
          </p:cNvSpPr>
          <p:nvPr/>
        </p:nvSpPr>
        <p:spPr>
          <a:xfrm xmlns:a="http://schemas.openxmlformats.org/drawingml/2006/main">
            <a:off x="609600" y="61912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8C908B"/>
                </a:solidFill>
                <a:latin typeface="Helvetica"/>
                <a:ea typeface="Helvetica"/>
                <a:cs typeface="Helvetica"/>
              </a:defRPr>
            </a:pPr>
            <a:r>
              <a:rPr sz="1125" b="0">
                <a:solidFill>
                  <a:srgbClr val="8C908B"/>
                </a:solidFill>
                <a:latin typeface="Helvetica"/>
                <a:ea typeface="Helvetica"/>
                <a:cs typeface="Helvetica"/>
              </a:rPr>
              <a:t>Next.js   /   FastAPI   /   Python DCF   /   SEC EDGAR   /   Gemini</a:t>
            </a:r>
          </a:p>
        </p:txBody>
      </p:sp>
    </p:spTree>
    <p:extLst>
      <p:ext uri="{BB962C8B-B14F-4D97-AF65-F5344CB8AC3E}">
        <p14:creationId xmlns:p14="http://schemas.microsoft.com/office/powerpoint/2010/main" val="1118422564"/>
      </p:ext>
    </p:extLst>
  </p:cSld>
</p:sld>
</file>

<file path=ppt/slides/slide7.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21" name="s7-text-0">
            <a:extLst xmlns:a="http://schemas.openxmlformats.org/drawingml/2006/main">
              <a:ext uri="{FF2B5EF4-FFF2-40B4-BE49-F238E27FC236}">
                <a16:creationId xmlns:a16="http://schemas.microsoft.com/office/drawing/2014/main" id="{60BF1617-B7D1-4916-88A5-E8B52EFEBD27}"/>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8C908B"/>
                </a:solidFill>
                <a:latin typeface="Helvetica"/>
                <a:ea typeface="Helvetica"/>
                <a:cs typeface="Helvetica"/>
              </a:defRPr>
            </a:pPr>
            <a:r>
              <a:rPr sz="1050" b="1">
                <a:solidFill>
                  <a:srgbClr val="8C908B"/>
                </a:solidFill>
                <a:latin typeface="Helvetica"/>
                <a:ea typeface="Helvetica"/>
                <a:cs typeface="Helvetica"/>
              </a:rPr>
              <a:t>THE ROADMAP</a:t>
            </a:r>
          </a:p>
        </p:txBody>
      </p:sp>
      <p:sp>
        <p:nvSpPr>
          <p:cNvPr id="2" name="s7-text-1">
            <a:extLst xmlns:a="http://schemas.openxmlformats.org/drawingml/2006/main">
              <a:ext uri="{FF2B5EF4-FFF2-40B4-BE49-F238E27FC236}">
                <a16:creationId xmlns:a16="http://schemas.microsoft.com/office/drawing/2014/main" id="{B02D9D29-98EE-4FD2-A011-5CDD67296FBF}"/>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8C908B"/>
                </a:solidFill>
                <a:latin typeface="Helvetica"/>
                <a:ea typeface="Helvetica"/>
                <a:cs typeface="Helvetica"/>
              </a:defRPr>
            </a:pPr>
            <a:r>
              <a:rPr sz="1050" b="0">
                <a:solidFill>
                  <a:srgbClr val="8C908B"/>
                </a:solidFill>
                <a:latin typeface="Helvetica"/>
                <a:ea typeface="Helvetica"/>
                <a:cs typeface="Helvetica"/>
              </a:rPr>
              <a:t>07</a:t>
            </a:r>
          </a:p>
        </p:txBody>
      </p:sp>
      <p:sp>
        <p:nvSpPr>
          <p:cNvPr id="3" name="s7-rule-2">
            <a:extLst xmlns:a="http://schemas.openxmlformats.org/drawingml/2006/main">
              <a:ext uri="{FF2B5EF4-FFF2-40B4-BE49-F238E27FC236}">
                <a16:creationId xmlns:a16="http://schemas.microsoft.com/office/drawing/2014/main" id="{2B6D08B2-094A-4549-9311-5E1E46C4415F}"/>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4" name="s7-text-3">
            <a:extLst xmlns:a="http://schemas.openxmlformats.org/drawingml/2006/main">
              <a:ext uri="{FF2B5EF4-FFF2-40B4-BE49-F238E27FC236}">
                <a16:creationId xmlns:a16="http://schemas.microsoft.com/office/drawing/2014/main" id="{174C1D8E-23FE-418F-8049-4DE31DD2D91F}"/>
              </a:ext>
            </a:extLst>
          </p:cNvPr>
          <p:cNvSpPr>
            <a:spLocks xmlns:a="http://schemas.openxmlformats.org/drawingml/2006/main" noGrp="1"/>
          </p:cNvSpPr>
          <p:nvPr/>
        </p:nvSpPr>
        <p:spPr>
          <a:xfrm xmlns:a="http://schemas.openxmlformats.org/drawingml/2006/main">
            <a:off x="609600" y="10191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F2EFE8"/>
                </a:solidFill>
                <a:latin typeface="Helvetica"/>
                <a:ea typeface="Helvetica"/>
                <a:cs typeface="Helvetica"/>
              </a:defRPr>
            </a:pPr>
            <a:r>
              <a:rPr sz="3750" b="1">
                <a:solidFill>
                  <a:srgbClr val="F2EFE8"/>
                </a:solidFill>
                <a:latin typeface="Helvetica"/>
                <a:ea typeface="Helvetica"/>
                <a:cs typeface="Helvetica"/>
              </a:rPr>
              <a:t>An inspectable core. Deeper research next.</a:t>
            </a:r>
          </a:p>
        </p:txBody>
      </p:sp>
      <p:sp>
        <p:nvSpPr>
          <p:cNvPr id="5" name="s7-rule-4">
            <a:extLst xmlns:a="http://schemas.openxmlformats.org/drawingml/2006/main">
              <a:ext uri="{FF2B5EF4-FFF2-40B4-BE49-F238E27FC236}">
                <a16:creationId xmlns:a16="http://schemas.microsoft.com/office/drawing/2014/main" id="{4F620A75-B430-4CD1-A42F-95AD8EF0990D}"/>
              </a:ext>
            </a:extLst>
          </p:cNvPr>
          <p:cNvSpPr>
            <a:spLocks xmlns:a="http://schemas.openxmlformats.org/drawingml/2006/main" noGrp="1"/>
          </p:cNvSpPr>
          <p:nvPr/>
        </p:nvSpPr>
        <p:spPr>
          <a:xfrm xmlns:a="http://schemas.openxmlformats.org/drawingml/2006/main">
            <a:off x="609600" y="230505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6" name="s7-text-5">
            <a:extLst xmlns:a="http://schemas.openxmlformats.org/drawingml/2006/main">
              <a:ext uri="{FF2B5EF4-FFF2-40B4-BE49-F238E27FC236}">
                <a16:creationId xmlns:a16="http://schemas.microsoft.com/office/drawing/2014/main" id="{2F5D1E56-3B90-4571-A8E5-4411CBAE34C4}"/>
              </a:ext>
            </a:extLst>
          </p:cNvPr>
          <p:cNvSpPr>
            <a:spLocks xmlns:a="http://schemas.openxmlformats.org/drawingml/2006/main" noGrp="1"/>
          </p:cNvSpPr>
          <p:nvPr/>
        </p:nvSpPr>
        <p:spPr>
          <a:xfrm xmlns:a="http://schemas.openxmlformats.org/drawingml/2006/main">
            <a:off x="609600" y="258127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NOW</a:t>
            </a:r>
          </a:p>
        </p:txBody>
      </p:sp>
      <p:sp>
        <p:nvSpPr>
          <p:cNvPr id="7" name="s7-text-6">
            <a:extLst xmlns:a="http://schemas.openxmlformats.org/drawingml/2006/main">
              <a:ext uri="{FF2B5EF4-FFF2-40B4-BE49-F238E27FC236}">
                <a16:creationId xmlns:a16="http://schemas.microsoft.com/office/drawing/2014/main" id="{92B95C7E-7E25-46C9-BFC7-D90B4A0A0927}"/>
              </a:ext>
            </a:extLst>
          </p:cNvPr>
          <p:cNvSpPr>
            <a:spLocks xmlns:a="http://schemas.openxmlformats.org/drawingml/2006/main" noGrp="1"/>
          </p:cNvSpPr>
          <p:nvPr/>
        </p:nvSpPr>
        <p:spPr>
          <a:xfrm xmlns:a="http://schemas.openxmlformats.org/drawingml/2006/main">
            <a:off x="2305050" y="2543175"/>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2EFE8"/>
                </a:solidFill>
                <a:latin typeface="Helvetica"/>
                <a:ea typeface="Helvetica"/>
                <a:cs typeface="Helvetica"/>
              </a:defRPr>
            </a:pPr>
            <a:r>
              <a:rPr sz="1350" b="1">
                <a:solidFill>
                  <a:srgbClr val="F2EFE8"/>
                </a:solidFill>
                <a:latin typeface="Helvetica"/>
                <a:ea typeface="Helvetica"/>
                <a:cs typeface="Helvetica"/>
              </a:rPr>
              <a:t>VALUATION CORE</a:t>
            </a:r>
          </a:p>
        </p:txBody>
      </p:sp>
      <p:sp>
        <p:nvSpPr>
          <p:cNvPr id="8" name="s7-text-7">
            <a:extLst xmlns:a="http://schemas.openxmlformats.org/drawingml/2006/main">
              <a:ext uri="{FF2B5EF4-FFF2-40B4-BE49-F238E27FC236}">
                <a16:creationId xmlns:a16="http://schemas.microsoft.com/office/drawing/2014/main" id="{86625543-118E-408E-A8B2-63AF8CB9F9A3}"/>
              </a:ext>
            </a:extLst>
          </p:cNvPr>
          <p:cNvSpPr>
            <a:spLocks xmlns:a="http://schemas.openxmlformats.org/drawingml/2006/main" noGrp="1"/>
          </p:cNvSpPr>
          <p:nvPr/>
        </p:nvSpPr>
        <p:spPr>
          <a:xfrm xmlns:a="http://schemas.openxmlformats.org/drawingml/2006/main">
            <a:off x="5562600" y="2543175"/>
            <a:ext cx="6019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2EFE8"/>
                </a:solidFill>
                <a:latin typeface="Helvetica"/>
                <a:ea typeface="Helvetica"/>
                <a:cs typeface="Helvetica"/>
              </a:defRPr>
            </a:pPr>
            <a:r>
              <a:rPr sz="1725" b="0">
                <a:solidFill>
                  <a:srgbClr val="F2EFE8"/>
                </a:solidFill>
                <a:latin typeface="Helvetica"/>
                <a:ea typeface="Helvetica"/>
                <a:cs typeface="Helvetica"/>
              </a:rPr>
              <a:t>SEC facts, adaptive DCF, checklist,</a:t>
            </a:r>
          </a:p>
        </p:txBody>
      </p:sp>
      <p:sp>
        <p:nvSpPr>
          <p:cNvPr id="9" name="s7-text-8">
            <a:extLst xmlns:a="http://schemas.openxmlformats.org/drawingml/2006/main">
              <a:ext uri="{FF2B5EF4-FFF2-40B4-BE49-F238E27FC236}">
                <a16:creationId xmlns:a16="http://schemas.microsoft.com/office/drawing/2014/main" id="{23C75358-A0FD-4153-89D3-7F0239F5F446}"/>
              </a:ext>
            </a:extLst>
          </p:cNvPr>
          <p:cNvSpPr>
            <a:spLocks xmlns:a="http://schemas.openxmlformats.org/drawingml/2006/main" noGrp="1"/>
          </p:cNvSpPr>
          <p:nvPr/>
        </p:nvSpPr>
        <p:spPr>
          <a:xfrm xmlns:a="http://schemas.openxmlformats.org/drawingml/2006/main">
            <a:off x="5562600" y="2857500"/>
            <a:ext cx="6019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2EFE8"/>
                </a:solidFill>
                <a:latin typeface="Helvetica"/>
                <a:ea typeface="Helvetica"/>
                <a:cs typeface="Helvetica"/>
              </a:defRPr>
            </a:pPr>
            <a:r>
              <a:rPr sz="1725" b="0">
                <a:solidFill>
                  <a:srgbClr val="F2EFE8"/>
                </a:solidFill>
                <a:latin typeface="Helvetica"/>
                <a:ea typeface="Helvetica"/>
                <a:cs typeface="Helvetica"/>
              </a:rPr>
              <a:t>and evidence-bound Gemini analysis.</a:t>
            </a:r>
          </a:p>
        </p:txBody>
      </p:sp>
      <p:sp>
        <p:nvSpPr>
          <p:cNvPr id="10" name="s7-rule-9">
            <a:extLst xmlns:a="http://schemas.openxmlformats.org/drawingml/2006/main">
              <a:ext uri="{FF2B5EF4-FFF2-40B4-BE49-F238E27FC236}">
                <a16:creationId xmlns:a16="http://schemas.microsoft.com/office/drawing/2014/main" id="{0D5D72C5-CE6F-41A1-8D9E-CC1B5FF84F3B}"/>
              </a:ext>
            </a:extLst>
          </p:cNvPr>
          <p:cNvSpPr>
            <a:spLocks xmlns:a="http://schemas.openxmlformats.org/drawingml/2006/main" noGrp="1"/>
          </p:cNvSpPr>
          <p:nvPr/>
        </p:nvSpPr>
        <p:spPr>
          <a:xfrm xmlns:a="http://schemas.openxmlformats.org/drawingml/2006/main">
            <a:off x="609600" y="3362325"/>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11" name="s7-text-10">
            <a:extLst xmlns:a="http://schemas.openxmlformats.org/drawingml/2006/main">
              <a:ext uri="{FF2B5EF4-FFF2-40B4-BE49-F238E27FC236}">
                <a16:creationId xmlns:a16="http://schemas.microsoft.com/office/drawing/2014/main" id="{EF34997C-B504-441B-B6F4-DA1560AD8B22}"/>
              </a:ext>
            </a:extLst>
          </p:cNvPr>
          <p:cNvSpPr>
            <a:spLocks xmlns:a="http://schemas.openxmlformats.org/drawingml/2006/main" noGrp="1"/>
          </p:cNvSpPr>
          <p:nvPr/>
        </p:nvSpPr>
        <p:spPr>
          <a:xfrm xmlns:a="http://schemas.openxmlformats.org/drawingml/2006/main">
            <a:off x="609600" y="36576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NEXT</a:t>
            </a:r>
          </a:p>
        </p:txBody>
      </p:sp>
      <p:sp>
        <p:nvSpPr>
          <p:cNvPr id="12" name="s7-text-11">
            <a:extLst xmlns:a="http://schemas.openxmlformats.org/drawingml/2006/main">
              <a:ext uri="{FF2B5EF4-FFF2-40B4-BE49-F238E27FC236}">
                <a16:creationId xmlns:a16="http://schemas.microsoft.com/office/drawing/2014/main" id="{E8A5E987-07E1-4354-908D-00A4DFC5684D}"/>
              </a:ext>
            </a:extLst>
          </p:cNvPr>
          <p:cNvSpPr>
            <a:spLocks xmlns:a="http://schemas.openxmlformats.org/drawingml/2006/main" noGrp="1"/>
          </p:cNvSpPr>
          <p:nvPr/>
        </p:nvSpPr>
        <p:spPr>
          <a:xfrm xmlns:a="http://schemas.openxmlformats.org/drawingml/2006/main">
            <a:off x="2305050" y="361950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2EFE8"/>
                </a:solidFill>
                <a:latin typeface="Helvetica"/>
                <a:ea typeface="Helvetica"/>
                <a:cs typeface="Helvetica"/>
              </a:defRPr>
            </a:pPr>
            <a:r>
              <a:rPr sz="1350" b="1">
                <a:solidFill>
                  <a:srgbClr val="F2EFE8"/>
                </a:solidFill>
                <a:latin typeface="Helvetica"/>
                <a:ea typeface="Helvetica"/>
                <a:cs typeface="Helvetica"/>
              </a:rPr>
              <a:t>FILING CONTEXT</a:t>
            </a:r>
          </a:p>
        </p:txBody>
      </p:sp>
      <p:sp>
        <p:nvSpPr>
          <p:cNvPr id="13" name="s7-text-12">
            <a:extLst xmlns:a="http://schemas.openxmlformats.org/drawingml/2006/main">
              <a:ext uri="{FF2B5EF4-FFF2-40B4-BE49-F238E27FC236}">
                <a16:creationId xmlns:a16="http://schemas.microsoft.com/office/drawing/2014/main" id="{DDA5D450-E2F8-4E64-9DD9-43569EA2954B}"/>
              </a:ext>
            </a:extLst>
          </p:cNvPr>
          <p:cNvSpPr>
            <a:spLocks xmlns:a="http://schemas.openxmlformats.org/drawingml/2006/main" noGrp="1"/>
          </p:cNvSpPr>
          <p:nvPr/>
        </p:nvSpPr>
        <p:spPr>
          <a:xfrm xmlns:a="http://schemas.openxmlformats.org/drawingml/2006/main">
            <a:off x="5562600" y="3619500"/>
            <a:ext cx="6019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Connect 10-K narrative and subsidiary</a:t>
            </a:r>
          </a:p>
        </p:txBody>
      </p:sp>
      <p:sp>
        <p:nvSpPr>
          <p:cNvPr id="14" name="s7-text-13">
            <a:extLst xmlns:a="http://schemas.openxmlformats.org/drawingml/2006/main">
              <a:ext uri="{FF2B5EF4-FFF2-40B4-BE49-F238E27FC236}">
                <a16:creationId xmlns:a16="http://schemas.microsoft.com/office/drawing/2014/main" id="{88CA8B25-A946-44F2-90A5-3992B222F18A}"/>
              </a:ext>
            </a:extLst>
          </p:cNvPr>
          <p:cNvSpPr>
            <a:spLocks xmlns:a="http://schemas.openxmlformats.org/drawingml/2006/main" noGrp="1"/>
          </p:cNvSpPr>
          <p:nvPr/>
        </p:nvSpPr>
        <p:spPr>
          <a:xfrm xmlns:a="http://schemas.openxmlformats.org/drawingml/2006/main">
            <a:off x="5562600" y="3933825"/>
            <a:ext cx="6019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evidence to the analysis workflow.</a:t>
            </a:r>
          </a:p>
        </p:txBody>
      </p:sp>
      <p:sp>
        <p:nvSpPr>
          <p:cNvPr id="15" name="s7-rule-14">
            <a:extLst xmlns:a="http://schemas.openxmlformats.org/drawingml/2006/main">
              <a:ext uri="{FF2B5EF4-FFF2-40B4-BE49-F238E27FC236}">
                <a16:creationId xmlns:a16="http://schemas.microsoft.com/office/drawing/2014/main" id="{F302A5D4-E973-4178-88EA-4BE82DD5292E}"/>
              </a:ext>
            </a:extLst>
          </p:cNvPr>
          <p:cNvSpPr>
            <a:spLocks xmlns:a="http://schemas.openxmlformats.org/drawingml/2006/main" noGrp="1"/>
          </p:cNvSpPr>
          <p:nvPr/>
        </p:nvSpPr>
        <p:spPr>
          <a:xfrm xmlns:a="http://schemas.openxmlformats.org/drawingml/2006/main">
            <a:off x="609600" y="4438650"/>
            <a:ext cx="10972800" cy="9525"/>
          </a:xfrm>
          <a:prstGeom xmlns:a="http://schemas.openxmlformats.org/drawingml/2006/main" prst="rect">
            <a:avLst/>
          </a:prstGeom>
          <a:solidFill xmlns:a="http://schemas.openxmlformats.org/drawingml/2006/main">
            <a:srgbClr val="2A2D2A"/>
          </a:solidFill>
          <a:ln xmlns:a="http://schemas.openxmlformats.org/drawingml/2006/main" w="0">
            <a:noFill/>
          </a:ln>
        </p:spPr>
      </p:sp>
      <p:sp>
        <p:nvSpPr>
          <p:cNvPr id="16" name="s7-text-15">
            <a:extLst xmlns:a="http://schemas.openxmlformats.org/drawingml/2006/main">
              <a:ext uri="{FF2B5EF4-FFF2-40B4-BE49-F238E27FC236}">
                <a16:creationId xmlns:a16="http://schemas.microsoft.com/office/drawing/2014/main" id="{10E9CAA8-2F46-4339-ADEB-0219FCF18313}"/>
              </a:ext>
            </a:extLst>
          </p:cNvPr>
          <p:cNvSpPr>
            <a:spLocks xmlns:a="http://schemas.openxmlformats.org/drawingml/2006/main" noGrp="1"/>
          </p:cNvSpPr>
          <p:nvPr/>
        </p:nvSpPr>
        <p:spPr>
          <a:xfrm xmlns:a="http://schemas.openxmlformats.org/drawingml/2006/main">
            <a:off x="609600" y="47339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C8FF3D"/>
                </a:solidFill>
                <a:latin typeface="Helvetica"/>
                <a:ea typeface="Helvetica"/>
                <a:cs typeface="Helvetica"/>
              </a:defRPr>
            </a:pPr>
            <a:r>
              <a:rPr sz="1050" b="1">
                <a:solidFill>
                  <a:srgbClr val="C8FF3D"/>
                </a:solidFill>
                <a:latin typeface="Helvetica"/>
                <a:ea typeface="Helvetica"/>
                <a:cs typeface="Helvetica"/>
              </a:rPr>
              <a:t>LATER</a:t>
            </a:r>
          </a:p>
        </p:txBody>
      </p:sp>
      <p:sp>
        <p:nvSpPr>
          <p:cNvPr id="17" name="s7-text-16">
            <a:extLst xmlns:a="http://schemas.openxmlformats.org/drawingml/2006/main">
              <a:ext uri="{FF2B5EF4-FFF2-40B4-BE49-F238E27FC236}">
                <a16:creationId xmlns:a16="http://schemas.microsoft.com/office/drawing/2014/main" id="{3434A06D-F724-4A9A-A5A8-E72057FA7E46}"/>
              </a:ext>
            </a:extLst>
          </p:cNvPr>
          <p:cNvSpPr>
            <a:spLocks xmlns:a="http://schemas.openxmlformats.org/drawingml/2006/main" noGrp="1"/>
          </p:cNvSpPr>
          <p:nvPr/>
        </p:nvSpPr>
        <p:spPr>
          <a:xfrm xmlns:a="http://schemas.openxmlformats.org/drawingml/2006/main">
            <a:off x="2305050" y="4695825"/>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2EFE8"/>
                </a:solidFill>
                <a:latin typeface="Helvetica"/>
                <a:ea typeface="Helvetica"/>
                <a:cs typeface="Helvetica"/>
              </a:defRPr>
            </a:pPr>
            <a:r>
              <a:rPr sz="1350" b="1">
                <a:solidFill>
                  <a:srgbClr val="F2EFE8"/>
                </a:solidFill>
                <a:latin typeface="Helvetica"/>
                <a:ea typeface="Helvetica"/>
                <a:cs typeface="Helvetica"/>
              </a:rPr>
              <a:t>THESIS HISTORY</a:t>
            </a:r>
          </a:p>
        </p:txBody>
      </p:sp>
      <p:sp>
        <p:nvSpPr>
          <p:cNvPr id="18" name="s7-text-17">
            <a:extLst xmlns:a="http://schemas.openxmlformats.org/drawingml/2006/main">
              <a:ext uri="{FF2B5EF4-FFF2-40B4-BE49-F238E27FC236}">
                <a16:creationId xmlns:a16="http://schemas.microsoft.com/office/drawing/2014/main" id="{C01FBAF4-157E-4E3F-97BD-CEE6E7AC997B}"/>
              </a:ext>
            </a:extLst>
          </p:cNvPr>
          <p:cNvSpPr>
            <a:spLocks xmlns:a="http://schemas.openxmlformats.org/drawingml/2006/main" noGrp="1"/>
          </p:cNvSpPr>
          <p:nvPr/>
        </p:nvSpPr>
        <p:spPr>
          <a:xfrm xmlns:a="http://schemas.openxmlformats.org/drawingml/2006/main">
            <a:off x="5562600" y="4695825"/>
            <a:ext cx="6019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Save and compare analyses as new</a:t>
            </a:r>
          </a:p>
        </p:txBody>
      </p:sp>
      <p:sp>
        <p:nvSpPr>
          <p:cNvPr id="19" name="s7-text-18">
            <a:extLst xmlns:a="http://schemas.openxmlformats.org/drawingml/2006/main">
              <a:ext uri="{FF2B5EF4-FFF2-40B4-BE49-F238E27FC236}">
                <a16:creationId xmlns:a16="http://schemas.microsoft.com/office/drawing/2014/main" id="{1FA688F4-BD17-48E4-8612-56529074EDA4}"/>
              </a:ext>
            </a:extLst>
          </p:cNvPr>
          <p:cNvSpPr>
            <a:spLocks xmlns:a="http://schemas.openxmlformats.org/drawingml/2006/main" noGrp="1"/>
          </p:cNvSpPr>
          <p:nvPr/>
        </p:nvSpPr>
        <p:spPr>
          <a:xfrm xmlns:a="http://schemas.openxmlformats.org/drawingml/2006/main">
            <a:off x="5562600" y="5010150"/>
            <a:ext cx="6019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C908B"/>
                </a:solidFill>
                <a:latin typeface="Helvetica"/>
                <a:ea typeface="Helvetica"/>
                <a:cs typeface="Helvetica"/>
              </a:defRPr>
            </a:pPr>
            <a:r>
              <a:rPr sz="1725" b="0">
                <a:solidFill>
                  <a:srgbClr val="8C908B"/>
                </a:solidFill>
                <a:latin typeface="Helvetica"/>
                <a:ea typeface="Helvetica"/>
                <a:cs typeface="Helvetica"/>
              </a:rPr>
              <a:t>filings arrive. A proposed extension.</a:t>
            </a:r>
          </a:p>
        </p:txBody>
      </p:sp>
      <p:sp>
        <p:nvSpPr>
          <p:cNvPr id="20" name="s7-text-19">
            <a:extLst xmlns:a="http://schemas.openxmlformats.org/drawingml/2006/main">
              <a:ext uri="{FF2B5EF4-FFF2-40B4-BE49-F238E27FC236}">
                <a16:creationId xmlns:a16="http://schemas.microsoft.com/office/drawing/2014/main" id="{1C4712AF-BC61-4FB3-8EED-C8A51EC3FF5C}"/>
              </a:ext>
            </a:extLst>
          </p:cNvPr>
          <p:cNvSpPr>
            <a:spLocks xmlns:a="http://schemas.openxmlformats.org/drawingml/2006/main" noGrp="1"/>
          </p:cNvSpPr>
          <p:nvPr/>
        </p:nvSpPr>
        <p:spPr>
          <a:xfrm xmlns:a="http://schemas.openxmlformats.org/drawingml/2006/main">
            <a:off x="609600" y="61341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C8FF3D"/>
                </a:solidFill>
                <a:latin typeface="Helvetica"/>
                <a:ea typeface="Helvetica"/>
                <a:cs typeface="Helvetica"/>
              </a:defRPr>
            </a:pPr>
            <a:r>
              <a:rPr sz="1650" b="0">
                <a:solidFill>
                  <a:srgbClr val="C8FF3D"/>
                </a:solidFill>
                <a:latin typeface="Helvetica"/>
                <a:ea typeface="Helvetica"/>
                <a:cs typeface="Helvetica"/>
              </a:rPr>
              <a:t>Keep missing evidence and unresolved disagreement visible.</a:t>
            </a:r>
          </a:p>
        </p:txBody>
      </p:sp>
    </p:spTree>
    <p:extLst>
      <p:ext uri="{BB962C8B-B14F-4D97-AF65-F5344CB8AC3E}">
        <p14:creationId xmlns:p14="http://schemas.microsoft.com/office/powerpoint/2010/main" val="1164648782"/>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6" name="s8-text-0">
            <a:extLst xmlns:a="http://schemas.openxmlformats.org/drawingml/2006/main">
              <a:ext uri="{FF2B5EF4-FFF2-40B4-BE49-F238E27FC236}">
                <a16:creationId xmlns:a16="http://schemas.microsoft.com/office/drawing/2014/main" id="{927B5485-5430-4DB6-A55D-DE3BBB85922E}"/>
              </a:ext>
            </a:extLst>
          </p:cNvPr>
          <p:cNvSpPr>
            <a:spLocks xmlns:a="http://schemas.openxmlformats.org/drawingml/2006/main" noGrp="1"/>
          </p:cNvSpPr>
          <p:nvPr/>
        </p:nvSpPr>
        <p:spPr>
          <a:xfrm xmlns:a="http://schemas.openxmlformats.org/drawingml/2006/main">
            <a:off x="609600" y="361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5D615C"/>
                </a:solidFill>
                <a:latin typeface="Helvetica"/>
                <a:ea typeface="Helvetica"/>
                <a:cs typeface="Helvetica"/>
              </a:defRPr>
            </a:pPr>
            <a:r>
              <a:rPr sz="1050" b="1">
                <a:solidFill>
                  <a:srgbClr val="5D615C"/>
                </a:solidFill>
                <a:latin typeface="Helvetica"/>
                <a:ea typeface="Helvetica"/>
                <a:cs typeface="Helvetica"/>
              </a:rPr>
              <a:t>DCFLENS</a:t>
            </a:r>
          </a:p>
        </p:txBody>
      </p:sp>
      <p:sp>
        <p:nvSpPr>
          <p:cNvPr id="2" name="s8-text-1">
            <a:extLst xmlns:a="http://schemas.openxmlformats.org/drawingml/2006/main">
              <a:ext uri="{FF2B5EF4-FFF2-40B4-BE49-F238E27FC236}">
                <a16:creationId xmlns:a16="http://schemas.microsoft.com/office/drawing/2014/main" id="{0D1F35C6-C74B-4511-9730-000127F47C7D}"/>
              </a:ext>
            </a:extLst>
          </p:cNvPr>
          <p:cNvSpPr>
            <a:spLocks xmlns:a="http://schemas.openxmlformats.org/drawingml/2006/main" noGrp="1"/>
          </p:cNvSpPr>
          <p:nvPr/>
        </p:nvSpPr>
        <p:spPr>
          <a:xfrm xmlns:a="http://schemas.openxmlformats.org/drawingml/2006/main">
            <a:off x="11144250" y="3619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5D615C"/>
                </a:solidFill>
                <a:latin typeface="Helvetica"/>
                <a:ea typeface="Helvetica"/>
                <a:cs typeface="Helvetica"/>
              </a:defRPr>
            </a:pPr>
            <a:r>
              <a:rPr sz="1050" b="0">
                <a:solidFill>
                  <a:srgbClr val="5D615C"/>
                </a:solidFill>
                <a:latin typeface="Helvetica"/>
                <a:ea typeface="Helvetica"/>
                <a:cs typeface="Helvetica"/>
              </a:rPr>
              <a:t>08</a:t>
            </a:r>
          </a:p>
        </p:txBody>
      </p:sp>
      <p:sp>
        <p:nvSpPr>
          <p:cNvPr id="3" name="s8-rule-2">
            <a:extLst xmlns:a="http://schemas.openxmlformats.org/drawingml/2006/main">
              <a:ext uri="{FF2B5EF4-FFF2-40B4-BE49-F238E27FC236}">
                <a16:creationId xmlns:a16="http://schemas.microsoft.com/office/drawing/2014/main" id="{FFF1A103-FF0F-430B-99C1-EEC52B0352B1}"/>
              </a:ext>
            </a:extLst>
          </p:cNvPr>
          <p:cNvSpPr>
            <a:spLocks xmlns:a="http://schemas.openxmlformats.org/drawingml/2006/main" noGrp="1"/>
          </p:cNvSpPr>
          <p:nvPr/>
        </p:nvSpPr>
        <p:spPr>
          <a:xfrm xmlns:a="http://schemas.openxmlformats.org/drawingml/2006/main">
            <a:off x="609600" y="647700"/>
            <a:ext cx="10972800" cy="9525"/>
          </a:xfrm>
          <a:prstGeom xmlns:a="http://schemas.openxmlformats.org/drawingml/2006/main" prst="rect">
            <a:avLst/>
          </a:prstGeom>
          <a:solidFill xmlns:a="http://schemas.openxmlformats.org/drawingml/2006/main">
            <a:srgbClr val="C9C5BC"/>
          </a:solidFill>
          <a:ln xmlns:a="http://schemas.openxmlformats.org/drawingml/2006/main" w="0">
            <a:noFill/>
          </a:ln>
        </p:spPr>
      </p:sp>
      <p:sp>
        <p:nvSpPr>
          <p:cNvPr id="4" name="s8-text-3">
            <a:extLst xmlns:a="http://schemas.openxmlformats.org/drawingml/2006/main">
              <a:ext uri="{FF2B5EF4-FFF2-40B4-BE49-F238E27FC236}">
                <a16:creationId xmlns:a16="http://schemas.microsoft.com/office/drawing/2014/main" id="{47598D70-AE17-4A9D-87BD-76B027CCD925}"/>
              </a:ext>
            </a:extLst>
          </p:cNvPr>
          <p:cNvSpPr>
            <a:spLocks xmlns:a="http://schemas.openxmlformats.org/drawingml/2006/main" noGrp="1"/>
          </p:cNvSpPr>
          <p:nvPr/>
        </p:nvSpPr>
        <p:spPr>
          <a:xfrm xmlns:a="http://schemas.openxmlformats.org/drawingml/2006/main">
            <a:off x="609600" y="1438275"/>
            <a:ext cx="8458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1">
                <a:solidFill>
                  <a:srgbClr val="0A0B0D"/>
                </a:solidFill>
                <a:latin typeface="Helvetica"/>
                <a:ea typeface="Helvetica"/>
                <a:cs typeface="Helvetica"/>
              </a:defRPr>
            </a:pPr>
            <a:r>
              <a:rPr sz="5100" b="1">
                <a:solidFill>
                  <a:srgbClr val="0A0B0D"/>
                </a:solidFill>
                <a:latin typeface="Helvetica"/>
                <a:ea typeface="Helvetica"/>
                <a:cs typeface="Helvetica"/>
              </a:rPr>
              <a:t>KNOW THE VALUE.</a:t>
            </a:r>
          </a:p>
        </p:txBody>
      </p:sp>
      <p:sp>
        <p:nvSpPr>
          <p:cNvPr id="5" name="s8-text-4">
            <a:extLst xmlns:a="http://schemas.openxmlformats.org/drawingml/2006/main">
              <a:ext uri="{FF2B5EF4-FFF2-40B4-BE49-F238E27FC236}">
                <a16:creationId xmlns:a16="http://schemas.microsoft.com/office/drawing/2014/main" id="{471B9692-5C25-42C4-A6A4-E2A04A22D708}"/>
              </a:ext>
            </a:extLst>
          </p:cNvPr>
          <p:cNvSpPr>
            <a:spLocks xmlns:a="http://schemas.openxmlformats.org/drawingml/2006/main" noGrp="1"/>
          </p:cNvSpPr>
          <p:nvPr/>
        </p:nvSpPr>
        <p:spPr>
          <a:xfrm xmlns:a="http://schemas.openxmlformats.org/drawingml/2006/main">
            <a:off x="609600" y="2257425"/>
            <a:ext cx="8458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1">
                <a:solidFill>
                  <a:srgbClr val="0A0B0D"/>
                </a:solidFill>
                <a:latin typeface="Helvetica"/>
                <a:ea typeface="Helvetica"/>
                <a:cs typeface="Helvetica"/>
              </a:defRPr>
            </a:pPr>
            <a:r>
              <a:rPr sz="5100" b="1">
                <a:solidFill>
                  <a:srgbClr val="0A0B0D"/>
                </a:solidFill>
                <a:latin typeface="Helvetica"/>
                <a:ea typeface="Helvetica"/>
                <a:cs typeface="Helvetica"/>
              </a:rPr>
              <a:t>SEE THE EVIDENCE.</a:t>
            </a:r>
          </a:p>
        </p:txBody>
      </p:sp>
      <p:sp>
        <p:nvSpPr>
          <p:cNvPr id="6" name="s8-text-5">
            <a:extLst xmlns:a="http://schemas.openxmlformats.org/drawingml/2006/main">
              <a:ext uri="{FF2B5EF4-FFF2-40B4-BE49-F238E27FC236}">
                <a16:creationId xmlns:a16="http://schemas.microsoft.com/office/drawing/2014/main" id="{E78DCE61-7C3F-477A-BE56-3477E00E2303}"/>
              </a:ext>
            </a:extLst>
          </p:cNvPr>
          <p:cNvSpPr>
            <a:spLocks xmlns:a="http://schemas.openxmlformats.org/drawingml/2006/main" noGrp="1"/>
          </p:cNvSpPr>
          <p:nvPr/>
        </p:nvSpPr>
        <p:spPr>
          <a:xfrm xmlns:a="http://schemas.openxmlformats.org/drawingml/2006/main">
            <a:off x="609600" y="3076575"/>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1">
                <a:solidFill>
                  <a:srgbClr val="0A0B0D"/>
                </a:solidFill>
                <a:latin typeface="Helvetica"/>
                <a:ea typeface="Helvetica"/>
                <a:cs typeface="Helvetica"/>
              </a:defRPr>
            </a:pPr>
            <a:r>
              <a:rPr sz="5100" b="1">
                <a:solidFill>
                  <a:srgbClr val="0A0B0D"/>
                </a:solidFill>
                <a:latin typeface="Helvetica"/>
                <a:ea typeface="Helvetica"/>
                <a:cs typeface="Helvetica"/>
              </a:rPr>
              <a:t>OWN THE DECISION.</a:t>
            </a:r>
          </a:p>
        </p:txBody>
      </p:sp>
      <p:sp>
        <p:nvSpPr>
          <p:cNvPr id="7" name="s8-rule-6">
            <a:extLst xmlns:a="http://schemas.openxmlformats.org/drawingml/2006/main">
              <a:ext uri="{FF2B5EF4-FFF2-40B4-BE49-F238E27FC236}">
                <a16:creationId xmlns:a16="http://schemas.microsoft.com/office/drawing/2014/main" id="{D995E5D7-BE4D-4683-BB37-DFA6AAF55FAF}"/>
              </a:ext>
            </a:extLst>
          </p:cNvPr>
          <p:cNvSpPr>
            <a:spLocks xmlns:a="http://schemas.openxmlformats.org/drawingml/2006/main" noGrp="1"/>
          </p:cNvSpPr>
          <p:nvPr/>
        </p:nvSpPr>
        <p:spPr>
          <a:xfrm xmlns:a="http://schemas.openxmlformats.org/drawingml/2006/main">
            <a:off x="9429750" y="1457325"/>
            <a:ext cx="2152650" cy="2152650"/>
          </a:xfrm>
          <a:prstGeom xmlns:a="http://schemas.openxmlformats.org/drawingml/2006/main" prst="rect">
            <a:avLst/>
          </a:prstGeom>
          <a:solidFill xmlns:a="http://schemas.openxmlformats.org/drawingml/2006/main">
            <a:srgbClr val="C8FF3D"/>
          </a:solidFill>
          <a:ln xmlns:a="http://schemas.openxmlformats.org/drawingml/2006/main" w="0">
            <a:noFill/>
          </a:ln>
        </p:spPr>
      </p:sp>
      <p:sp>
        <p:nvSpPr>
          <p:cNvPr id="8" name="s8-text-7">
            <a:extLst xmlns:a="http://schemas.openxmlformats.org/drawingml/2006/main">
              <a:ext uri="{FF2B5EF4-FFF2-40B4-BE49-F238E27FC236}">
                <a16:creationId xmlns:a16="http://schemas.microsoft.com/office/drawing/2014/main" id="{31B70D8D-DF6E-4F5E-94B7-3ADA04275D8C}"/>
              </a:ext>
            </a:extLst>
          </p:cNvPr>
          <p:cNvSpPr>
            <a:spLocks xmlns:a="http://schemas.openxmlformats.org/drawingml/2006/main" noGrp="1"/>
          </p:cNvSpPr>
          <p:nvPr/>
        </p:nvSpPr>
        <p:spPr>
          <a:xfrm xmlns:a="http://schemas.openxmlformats.org/drawingml/2006/main">
            <a:off x="9639300" y="1752600"/>
            <a:ext cx="1733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1">
                <a:solidFill>
                  <a:srgbClr val="0A0B0D"/>
                </a:solidFill>
                <a:latin typeface="Helvetica"/>
                <a:ea typeface="Helvetica"/>
                <a:cs typeface="Helvetica"/>
              </a:defRPr>
            </a:pPr>
            <a:r>
              <a:rPr sz="2625" b="1">
                <a:solidFill>
                  <a:srgbClr val="0A0B0D"/>
                </a:solidFill>
                <a:latin typeface="Helvetica"/>
                <a:ea typeface="Helvetica"/>
                <a:cs typeface="Helvetica"/>
              </a:rPr>
              <a:t>ONE</a:t>
            </a:r>
          </a:p>
        </p:txBody>
      </p:sp>
      <p:sp>
        <p:nvSpPr>
          <p:cNvPr id="9" name="s8-text-8">
            <a:extLst xmlns:a="http://schemas.openxmlformats.org/drawingml/2006/main">
              <a:ext uri="{FF2B5EF4-FFF2-40B4-BE49-F238E27FC236}">
                <a16:creationId xmlns:a16="http://schemas.microsoft.com/office/drawing/2014/main" id="{F3862A39-1070-4A42-949B-11EB9D7EC276}"/>
              </a:ext>
            </a:extLst>
          </p:cNvPr>
          <p:cNvSpPr>
            <a:spLocks xmlns:a="http://schemas.openxmlformats.org/drawingml/2006/main" noGrp="1"/>
          </p:cNvSpPr>
          <p:nvPr/>
        </p:nvSpPr>
        <p:spPr>
          <a:xfrm xmlns:a="http://schemas.openxmlformats.org/drawingml/2006/main">
            <a:off x="9639300" y="2171700"/>
            <a:ext cx="1733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1">
                <a:solidFill>
                  <a:srgbClr val="0A0B0D"/>
                </a:solidFill>
                <a:latin typeface="Helvetica"/>
                <a:ea typeface="Helvetica"/>
                <a:cs typeface="Helvetica"/>
              </a:defRPr>
            </a:pPr>
            <a:r>
              <a:rPr sz="2625" b="1">
                <a:solidFill>
                  <a:srgbClr val="0A0B0D"/>
                </a:solidFill>
                <a:latin typeface="Helvetica"/>
                <a:ea typeface="Helvetica"/>
                <a:cs typeface="Helvetica"/>
              </a:rPr>
              <a:t>TICKER.</a:t>
            </a:r>
          </a:p>
        </p:txBody>
      </p:sp>
      <p:sp>
        <p:nvSpPr>
          <p:cNvPr id="10" name="s8-text-9">
            <a:extLst xmlns:a="http://schemas.openxmlformats.org/drawingml/2006/main">
              <a:ext uri="{FF2B5EF4-FFF2-40B4-BE49-F238E27FC236}">
                <a16:creationId xmlns:a16="http://schemas.microsoft.com/office/drawing/2014/main" id="{AA41B302-1074-44B6-8BA3-A98B8C480AD8}"/>
              </a:ext>
            </a:extLst>
          </p:cNvPr>
          <p:cNvSpPr>
            <a:spLocks xmlns:a="http://schemas.openxmlformats.org/drawingml/2006/main" noGrp="1"/>
          </p:cNvSpPr>
          <p:nvPr/>
        </p:nvSpPr>
        <p:spPr>
          <a:xfrm xmlns:a="http://schemas.openxmlformats.org/drawingml/2006/main">
            <a:off x="9639300" y="2590800"/>
            <a:ext cx="1733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625" b="1">
                <a:solidFill>
                  <a:srgbClr val="0A0B0D"/>
                </a:solidFill>
                <a:latin typeface="Helvetica"/>
                <a:ea typeface="Helvetica"/>
                <a:cs typeface="Helvetica"/>
              </a:defRPr>
            </a:pPr>
            <a:r>
              <a:rPr sz="2625" b="1">
                <a:solidFill>
                  <a:srgbClr val="0A0B0D"/>
                </a:solidFill>
                <a:latin typeface="Helvetica"/>
                <a:ea typeface="Helvetica"/>
                <a:cs typeface="Helvetica"/>
              </a:rPr>
              <a:t>CLEAR</a:t>
            </a:r>
          </a:p>
        </p:txBody>
      </p:sp>
      <p:sp>
        <p:nvSpPr>
          <p:cNvPr id="11" name="s8-text-10">
            <a:extLst xmlns:a="http://schemas.openxmlformats.org/drawingml/2006/main">
              <a:ext uri="{FF2B5EF4-FFF2-40B4-BE49-F238E27FC236}">
                <a16:creationId xmlns:a16="http://schemas.microsoft.com/office/drawing/2014/main" id="{A2F3A613-14C1-4AB4-9946-34020DC1A66D}"/>
              </a:ext>
            </a:extLst>
          </p:cNvPr>
          <p:cNvSpPr>
            <a:spLocks xmlns:a="http://schemas.openxmlformats.org/drawingml/2006/main" noGrp="1"/>
          </p:cNvSpPr>
          <p:nvPr/>
        </p:nvSpPr>
        <p:spPr>
          <a:xfrm xmlns:a="http://schemas.openxmlformats.org/drawingml/2006/main">
            <a:off x="9563100" y="3009900"/>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0A0B0D"/>
                </a:solidFill>
                <a:latin typeface="Helvetica"/>
                <a:ea typeface="Helvetica"/>
                <a:cs typeface="Helvetica"/>
              </a:defRPr>
            </a:pPr>
            <a:r>
              <a:rPr sz="2250" b="1">
                <a:solidFill>
                  <a:srgbClr val="0A0B0D"/>
                </a:solidFill>
                <a:latin typeface="Helvetica"/>
                <a:ea typeface="Helvetica"/>
                <a:cs typeface="Helvetica"/>
              </a:rPr>
              <a:t>REASONS.</a:t>
            </a:r>
          </a:p>
        </p:txBody>
      </p:sp>
      <p:sp>
        <p:nvSpPr>
          <p:cNvPr id="12" name="s8-rule-11">
            <a:extLst xmlns:a="http://schemas.openxmlformats.org/drawingml/2006/main">
              <a:ext uri="{FF2B5EF4-FFF2-40B4-BE49-F238E27FC236}">
                <a16:creationId xmlns:a16="http://schemas.microsoft.com/office/drawing/2014/main" id="{522401AB-5B40-4111-9BD1-2AFE95185252}"/>
              </a:ext>
            </a:extLst>
          </p:cNvPr>
          <p:cNvSpPr>
            <a:spLocks xmlns:a="http://schemas.openxmlformats.org/drawingml/2006/main" noGrp="1"/>
          </p:cNvSpPr>
          <p:nvPr/>
        </p:nvSpPr>
        <p:spPr>
          <a:xfrm xmlns:a="http://schemas.openxmlformats.org/drawingml/2006/main">
            <a:off x="609600" y="5210175"/>
            <a:ext cx="10972800" cy="9525"/>
          </a:xfrm>
          <a:prstGeom xmlns:a="http://schemas.openxmlformats.org/drawingml/2006/main" prst="rect">
            <a:avLst/>
          </a:prstGeom>
          <a:solidFill xmlns:a="http://schemas.openxmlformats.org/drawingml/2006/main">
            <a:srgbClr val="C9C5BC"/>
          </a:solidFill>
          <a:ln xmlns:a="http://schemas.openxmlformats.org/drawingml/2006/main" w="0">
            <a:noFill/>
          </a:ln>
        </p:spPr>
      </p:sp>
      <p:sp>
        <p:nvSpPr>
          <p:cNvPr id="13" name="s8-text-12">
            <a:extLst xmlns:a="http://schemas.openxmlformats.org/drawingml/2006/main">
              <a:ext uri="{FF2B5EF4-FFF2-40B4-BE49-F238E27FC236}">
                <a16:creationId xmlns:a16="http://schemas.microsoft.com/office/drawing/2014/main" id="{25D5E307-B019-4FD7-B41E-2551C4091D7F}"/>
              </a:ext>
            </a:extLst>
          </p:cNvPr>
          <p:cNvSpPr>
            <a:spLocks xmlns:a="http://schemas.openxmlformats.org/drawingml/2006/main" noGrp="1"/>
          </p:cNvSpPr>
          <p:nvPr/>
        </p:nvSpPr>
        <p:spPr>
          <a:xfrm xmlns:a="http://schemas.openxmlformats.org/drawingml/2006/main">
            <a:off x="609600" y="5543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5D615C"/>
                </a:solidFill>
                <a:latin typeface="Helvetica"/>
                <a:ea typeface="Helvetica"/>
                <a:cs typeface="Helvetica"/>
              </a:defRPr>
            </a:pPr>
            <a:r>
              <a:rPr sz="1050" b="1">
                <a:solidFill>
                  <a:srgbClr val="5D615C"/>
                </a:solidFill>
                <a:latin typeface="Helvetica"/>
                <a:ea typeface="Helvetica"/>
                <a:cs typeface="Helvetica"/>
              </a:rPr>
              <a:t>EXPLORE THE PROJECT</a:t>
            </a:r>
          </a:p>
        </p:txBody>
      </p:sp>
      <p:sp>
        <p:nvSpPr>
          <p:cNvPr id="14" name="s8-text-13">
            <a:extLst xmlns:a="http://schemas.openxmlformats.org/drawingml/2006/main">
              <a:ext uri="{FF2B5EF4-FFF2-40B4-BE49-F238E27FC236}">
                <a16:creationId xmlns:a16="http://schemas.microsoft.com/office/drawing/2014/main" id="{082C957E-3C9E-4579-8449-9968A84B4FB7}"/>
              </a:ext>
            </a:extLst>
          </p:cNvPr>
          <p:cNvSpPr>
            <a:spLocks xmlns:a="http://schemas.openxmlformats.org/drawingml/2006/main" noGrp="1"/>
          </p:cNvSpPr>
          <p:nvPr/>
        </p:nvSpPr>
        <p:spPr>
          <a:xfrm xmlns:a="http://schemas.openxmlformats.org/drawingml/2006/main">
            <a:off x="3571875" y="5486400"/>
            <a:ext cx="8010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A0B0D"/>
                </a:solidFill>
                <a:latin typeface="Helvetica"/>
                <a:ea typeface="Helvetica"/>
                <a:cs typeface="Helvetica"/>
              </a:defRPr>
            </a:pPr>
            <a:r>
              <a:rPr sz="1800" b="1">
                <a:solidFill>
                  <a:srgbClr val="0A0B0D"/>
                </a:solidFill>
                <a:latin typeface="Helvetica"/>
                <a:ea typeface="Helvetica"/>
                <a:cs typeface="Helvetica"/>
                <a:hlinkClick xmlns:r="http://schemas.openxmlformats.org/officeDocument/2006/relationships" r:id="R7851392dc2444b4e"/>
              </a:rPr>
              <a:t>github.com/Aarush-x/DCFLens</a:t>
            </a:r>
          </a:p>
        </p:txBody>
      </p:sp>
      <p:sp>
        <p:nvSpPr>
          <p:cNvPr id="15" name="s8-text-14">
            <a:extLst xmlns:a="http://schemas.openxmlformats.org/drawingml/2006/main">
              <a:ext uri="{FF2B5EF4-FFF2-40B4-BE49-F238E27FC236}">
                <a16:creationId xmlns:a16="http://schemas.microsoft.com/office/drawing/2014/main" id="{8CCE6DC6-2F77-428A-B624-6E6D2AFF75D2}"/>
              </a:ext>
            </a:extLst>
          </p:cNvPr>
          <p:cNvSpPr>
            <a:spLocks xmlns:a="http://schemas.openxmlformats.org/drawingml/2006/main" noGrp="1"/>
          </p:cNvSpPr>
          <p:nvPr/>
        </p:nvSpPr>
        <p:spPr>
          <a:xfrm xmlns:a="http://schemas.openxmlformats.org/drawingml/2006/main">
            <a:off x="609600" y="61912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D615C"/>
                </a:solidFill>
                <a:latin typeface="Helvetica"/>
                <a:ea typeface="Helvetica"/>
                <a:cs typeface="Helvetica"/>
              </a:defRPr>
            </a:pPr>
            <a:r>
              <a:rPr sz="1125" b="0">
                <a:solidFill>
                  <a:srgbClr val="5D615C"/>
                </a:solidFill>
                <a:latin typeface="Helvetica"/>
                <a:ea typeface="Helvetica"/>
                <a:cs typeface="Helvetica"/>
              </a:rPr>
              <a:t>Research and education. Not financial advice.</a:t>
            </a:r>
          </a:p>
        </p:txBody>
      </p:sp>
    </p:spTree>
    <p:extLst>
      <p:ext uri="{BB962C8B-B14F-4D97-AF65-F5344CB8AC3E}">
        <p14:creationId xmlns:p14="http://schemas.microsoft.com/office/powerpoint/2010/main" val="1791394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2026-08-30T04:57:33.0420000Z</dcterms:created>
  <dcterms:modified xsi:type="dcterms:W3CDTF">2026-08-30T04:57:33.0420000Z</dcterms:modified>
</coreProperties>
</file>